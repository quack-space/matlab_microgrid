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E9CE2-DA49-DC68-6900-F02F71AA77BE}" v="7" dt="2026-04-18T12:56:31.110"/>
    <p1510:client id="{1FF14A2A-8D3C-AE9E-D11D-FD0020B42382}" v="21" dt="2026-04-18T13:07:42.672"/>
    <p1510:client id="{3D2C5AE2-88C0-4F9F-9A11-692DCACA058C}" v="382" dt="2026-04-18T13:12:20.144"/>
    <p1510:client id="{8E7E9A4A-5C10-4760-9949-4458A9847E42}" v="919" dt="2026-04-18T13:11:12.430"/>
    <p1510:client id="{A9B5774F-121B-D3FF-E093-70ECA87B7FEC}" v="957" dt="2026-04-18T13:13:13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3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9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84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5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8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0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48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4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7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8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30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68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845A1-0C8C-CDFA-195F-9916F9B9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55" r="6758" b="2890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7595B3-4BD5-E55E-847D-A5D868ECA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Microgrid</a:t>
            </a:r>
            <a:br>
              <a:rPr lang="en-GB" sz="6000" dirty="0">
                <a:solidFill>
                  <a:srgbClr val="FFFFFF"/>
                </a:solidFill>
              </a:rPr>
            </a:br>
            <a:endParaRPr lang="en-GB" sz="60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EBEF121-81B5-FD9B-B3E2-EFDEDBDB0A68}"/>
              </a:ext>
            </a:extLst>
          </p:cNvPr>
          <p:cNvSpPr txBox="1"/>
          <p:nvPr/>
        </p:nvSpPr>
        <p:spPr>
          <a:xfrm>
            <a:off x="540329" y="4943789"/>
            <a:ext cx="3267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Tiziano Scimone (TL)</a:t>
            </a:r>
          </a:p>
          <a:p>
            <a:r>
              <a:rPr lang="en-GB" dirty="0"/>
              <a:t>Nicola Canti</a:t>
            </a:r>
          </a:p>
          <a:p>
            <a:r>
              <a:rPr lang="en-GB" dirty="0"/>
              <a:t>Elettra Veronica Deiana</a:t>
            </a:r>
          </a:p>
          <a:p>
            <a:r>
              <a:rPr lang="en-GB" dirty="0"/>
              <a:t>Leonardo Scotti</a:t>
            </a:r>
          </a:p>
        </p:txBody>
      </p:sp>
    </p:spTree>
    <p:extLst>
      <p:ext uri="{BB962C8B-B14F-4D97-AF65-F5344CB8AC3E}">
        <p14:creationId xmlns:p14="http://schemas.microsoft.com/office/powerpoint/2010/main" val="319830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A5F445-9EEE-A74E-5C7C-5685B6BB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43" y="205128"/>
            <a:ext cx="10890929" cy="1097280"/>
          </a:xfrm>
        </p:spPr>
        <p:txBody>
          <a:bodyPr/>
          <a:lstStyle/>
          <a:p>
            <a:r>
              <a:rPr lang="en-GB" dirty="0"/>
              <a:t>Task 1: Ideal System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9321B0E-0D7B-1E2B-5D5C-060E88D0B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28" y="2090094"/>
            <a:ext cx="3400900" cy="247684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531EBBA-6077-E1C2-6214-A1E081F60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456" y="753768"/>
            <a:ext cx="5697416" cy="4527505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CAF5EB-3CAD-6A45-E973-51D8CD9435B5}"/>
              </a:ext>
            </a:extLst>
          </p:cNvPr>
          <p:cNvSpPr txBox="1"/>
          <p:nvPr/>
        </p:nvSpPr>
        <p:spPr>
          <a:xfrm>
            <a:off x="567128" y="4843305"/>
            <a:ext cx="4366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By Trial and Error methods the above values were selected to meet the required objectives.</a:t>
            </a:r>
          </a:p>
        </p:txBody>
      </p:sp>
    </p:spTree>
    <p:extLst>
      <p:ext uri="{BB962C8B-B14F-4D97-AF65-F5344CB8AC3E}">
        <p14:creationId xmlns:p14="http://schemas.microsoft.com/office/powerpoint/2010/main" val="318831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BEA7-AB8F-1685-3D6B-7D59DABA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78B9B4-489B-122F-DA48-0B514CE3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95" y="276332"/>
            <a:ext cx="10890929" cy="1097280"/>
          </a:xfrm>
        </p:spPr>
        <p:txBody>
          <a:bodyPr/>
          <a:lstStyle/>
          <a:p>
            <a:r>
              <a:rPr lang="en-GB" dirty="0"/>
              <a:t>Task 2: Maximum Power Transfer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0CCEA-D424-0A9A-4229-A26D958B525A}"/>
              </a:ext>
            </a:extLst>
          </p:cNvPr>
          <p:cNvSpPr txBox="1"/>
          <p:nvPr/>
        </p:nvSpPr>
        <p:spPr>
          <a:xfrm>
            <a:off x="1004887" y="2488406"/>
            <a:ext cx="508738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To find the solar cell specific maximum power point at </a:t>
            </a:r>
            <a:r>
              <a:rPr lang="en-US" b="1" dirty="0"/>
              <a:t>0,51V</a:t>
            </a:r>
            <a:r>
              <a:rPr lang="en-US" dirty="0"/>
              <a:t> and </a:t>
            </a:r>
            <a:r>
              <a:rPr lang="en-US" b="1" dirty="0"/>
              <a:t>5,2W</a:t>
            </a:r>
            <a:r>
              <a:rPr lang="en-US" dirty="0"/>
              <a:t> we did a sweep of the load </a:t>
            </a:r>
            <a:r>
              <a:rPr lang="en-US"/>
              <a:t>resistance down to 0 Ohms.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We found thus the optimal number of cells to be </a:t>
            </a:r>
            <a:r>
              <a:rPr lang="en-US" b="1" dirty="0"/>
              <a:t>1000</a:t>
            </a:r>
            <a:r>
              <a:rPr lang="en-US" dirty="0"/>
              <a:t> because of the </a:t>
            </a:r>
            <a:r>
              <a:rPr lang="en-US"/>
              <a:t>510V requirement.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The </a:t>
            </a:r>
            <a:r>
              <a:rPr lang="en-US" b="1"/>
              <a:t>10 parallel strings </a:t>
            </a:r>
            <a:r>
              <a:rPr lang="en-US"/>
              <a:t>were then chosen because of the 50kW requirement.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04AA7D-81D0-27D2-0058-A39EB9266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958" y="4027640"/>
            <a:ext cx="3579356" cy="257162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009DCFC-C161-306C-0CCF-B1EC0D3F0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957" y="1213821"/>
            <a:ext cx="3579356" cy="2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8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098E-C129-FFED-8BFB-4E367770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AC4C8-74A9-B2A1-9269-3B844A40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57" y="256302"/>
            <a:ext cx="11156686" cy="1097280"/>
          </a:xfrm>
        </p:spPr>
        <p:txBody>
          <a:bodyPr>
            <a:noAutofit/>
          </a:bodyPr>
          <a:lstStyle/>
          <a:p>
            <a:r>
              <a:rPr lang="en-GB" dirty="0"/>
              <a:t>Task 3: Maximum Power Point Tracking (MPPT)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69BAD0-9721-9D4E-EBE8-CB36C7063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57" y="1353581"/>
            <a:ext cx="10890928" cy="51276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In order to tune the MPPT algorithm the </a:t>
            </a:r>
            <a:br>
              <a:rPr lang="en-US"/>
            </a:br>
            <a:r>
              <a:rPr lang="en-GB"/>
              <a:t>following parameters were modified: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endParaRPr lang="en-GB"/>
          </a:p>
          <a:p>
            <a:br>
              <a:rPr lang="en-GB"/>
            </a:br>
            <a:r>
              <a:rPr lang="en-GB" err="1"/>
              <a:t>Dmax</a:t>
            </a:r>
            <a:r>
              <a:rPr lang="en-GB"/>
              <a:t> and </a:t>
            </a:r>
            <a:r>
              <a:rPr lang="en-GB" err="1"/>
              <a:t>Dmin</a:t>
            </a:r>
            <a:r>
              <a:rPr lang="en-GB"/>
              <a:t> were chosen to constrain the</a:t>
            </a:r>
            <a:br>
              <a:rPr lang="en-GB"/>
            </a:br>
            <a:r>
              <a:rPr lang="en-GB"/>
              <a:t>boundaries of the duty cycle value, and the </a:t>
            </a:r>
            <a:r>
              <a:rPr lang="en-GB" err="1"/>
              <a:t>DeltaD</a:t>
            </a:r>
            <a:br>
              <a:rPr lang="en-GB"/>
            </a:br>
            <a:r>
              <a:rPr lang="en-GB"/>
              <a:t> to allow fine variations by the controller, </a:t>
            </a:r>
            <a:br>
              <a:rPr lang="en-GB"/>
            </a:br>
            <a:r>
              <a:rPr lang="en-GB"/>
              <a:t>while still considering possible hardware limitations.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3897D41-F391-4A53-EBF4-FA3617CA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93" y="2166642"/>
            <a:ext cx="4416257" cy="1902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652A77-7CF5-6BAF-A605-37104974C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386" y="1191119"/>
            <a:ext cx="5183870" cy="43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9CF5-3AE1-59E3-0B3E-D7D6302B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AAA6D9-6985-C03A-9672-9DC09D3A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85" y="307042"/>
            <a:ext cx="10890929" cy="1097280"/>
          </a:xfrm>
        </p:spPr>
        <p:txBody>
          <a:bodyPr/>
          <a:lstStyle/>
          <a:p>
            <a:r>
              <a:rPr lang="en-GB" dirty="0"/>
              <a:t>Task 4: Battery Voltage Control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C27592-8B64-FFD5-A4A9-FDB4F659D61F}"/>
              </a:ext>
            </a:extLst>
          </p:cNvPr>
          <p:cNvSpPr txBox="1"/>
          <p:nvPr/>
        </p:nvSpPr>
        <p:spPr>
          <a:xfrm>
            <a:off x="649786" y="1235947"/>
            <a:ext cx="5258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To account for the load voltages requirements the Voltage Set Point was set to </a:t>
            </a:r>
            <a:r>
              <a:rPr lang="en-GB" b="1"/>
              <a:t>514V.</a:t>
            </a:r>
          </a:p>
          <a:p>
            <a:endParaRPr lang="en-GB" b="1"/>
          </a:p>
          <a:p>
            <a:r>
              <a:rPr lang="en-GB"/>
              <a:t>To achieve better performances the fixed step integrator’s properties were set as follows:</a:t>
            </a:r>
          </a:p>
          <a:p>
            <a:endParaRPr 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Gain: 5e-4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Initial Condition: 0.455</a:t>
            </a:r>
          </a:p>
          <a:p>
            <a:endParaRPr lang="en-GB"/>
          </a:p>
          <a:p>
            <a:r>
              <a:rPr lang="en-GB"/>
              <a:t>In addition the output was saturated with the </a:t>
            </a:r>
            <a:br>
              <a:rPr lang="en-GB"/>
            </a:br>
            <a:r>
              <a:rPr lang="en-GB"/>
              <a:t>following boundaries:</a:t>
            </a:r>
          </a:p>
          <a:p>
            <a:endParaRPr 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Upper limit: 0.95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Lower limit: 0.05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B46AD51-8CCB-8F6A-F24C-9C771BD4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5947"/>
            <a:ext cx="5873468" cy="466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680C-E67E-AFDA-9F4D-4BCA245F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D3B229-12B7-95A7-2E91-073E5284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6240"/>
            <a:ext cx="10890929" cy="1097280"/>
          </a:xfrm>
        </p:spPr>
        <p:txBody>
          <a:bodyPr/>
          <a:lstStyle/>
          <a:p>
            <a:r>
              <a:rPr lang="en-GB" dirty="0"/>
              <a:t>Task 5: Full System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6B21E0-E8BD-0489-DFBD-33595CFE2E3A}"/>
              </a:ext>
            </a:extLst>
          </p:cNvPr>
          <p:cNvSpPr txBox="1"/>
          <p:nvPr/>
        </p:nvSpPr>
        <p:spPr>
          <a:xfrm>
            <a:off x="640079" y="1228334"/>
            <a:ext cx="48758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Following the </a:t>
            </a:r>
            <a:r>
              <a:rPr lang="it-IT" err="1"/>
              <a:t>instructions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implemented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previous</a:t>
            </a:r>
            <a:r>
              <a:rPr lang="it-IT"/>
              <a:t> tasks </a:t>
            </a:r>
            <a:r>
              <a:rPr lang="it-IT" err="1"/>
              <a:t>results</a:t>
            </a:r>
            <a:r>
              <a:rPr lang="it-IT"/>
              <a:t> </a:t>
            </a:r>
            <a:r>
              <a:rPr lang="it-IT" err="1"/>
              <a:t>into</a:t>
            </a:r>
            <a:r>
              <a:rPr lang="it-IT"/>
              <a:t> the complete system and </a:t>
            </a:r>
            <a:r>
              <a:rPr lang="it-IT" err="1"/>
              <a:t>ran</a:t>
            </a:r>
            <a:r>
              <a:rPr lang="it-IT"/>
              <a:t> the </a:t>
            </a:r>
            <a:r>
              <a:rPr lang="it-IT" err="1"/>
              <a:t>simulation</a:t>
            </a:r>
            <a:r>
              <a:rPr lang="it-IT"/>
              <a:t>. </a:t>
            </a:r>
          </a:p>
          <a:p>
            <a:r>
              <a:rPr lang="it-IT" b="1"/>
              <a:t>SOC</a:t>
            </a:r>
            <a:r>
              <a:rPr lang="it-IT"/>
              <a:t> </a:t>
            </a:r>
            <a:r>
              <a:rPr lang="it-IT" err="1"/>
              <a:t>stayed</a:t>
            </a:r>
            <a:r>
              <a:rPr lang="it-IT"/>
              <a:t> </a:t>
            </a:r>
            <a:r>
              <a:rPr lang="it-IT" b="1"/>
              <a:t>positive</a:t>
            </a:r>
            <a:r>
              <a:rPr lang="it-IT"/>
              <a:t> </a:t>
            </a:r>
            <a:r>
              <a:rPr lang="it-IT" err="1"/>
              <a:t>throughout</a:t>
            </a:r>
            <a:r>
              <a:rPr lang="it-IT"/>
              <a:t> the </a:t>
            </a:r>
            <a:r>
              <a:rPr lang="it-IT" err="1"/>
              <a:t>entire</a:t>
            </a:r>
            <a:r>
              <a:rPr lang="it-IT"/>
              <a:t> 7-sol </a:t>
            </a:r>
            <a:r>
              <a:rPr lang="it-IT" err="1"/>
              <a:t>period</a:t>
            </a:r>
            <a:r>
              <a:rPr lang="it-IT"/>
              <a:t>.</a:t>
            </a:r>
          </a:p>
          <a:p>
            <a:r>
              <a:rPr lang="it-IT" b="1"/>
              <a:t>Voltage</a:t>
            </a:r>
            <a:r>
              <a:rPr lang="it-IT"/>
              <a:t> </a:t>
            </a:r>
            <a:r>
              <a:rPr lang="it-IT" err="1"/>
              <a:t>stayed</a:t>
            </a:r>
            <a:r>
              <a:rPr lang="it-IT"/>
              <a:t> </a:t>
            </a:r>
            <a:r>
              <a:rPr lang="it-IT" b="1" err="1"/>
              <a:t>consistent</a:t>
            </a:r>
            <a:r>
              <a:rPr lang="it-IT"/>
              <a:t> </a:t>
            </a:r>
            <a:r>
              <a:rPr lang="it-IT" err="1"/>
              <a:t>within</a:t>
            </a:r>
            <a:r>
              <a:rPr lang="it-IT"/>
              <a:t> the </a:t>
            </a:r>
            <a:r>
              <a:rPr lang="it-IT" b="1"/>
              <a:t>500-520V</a:t>
            </a:r>
            <a:r>
              <a:rPr lang="it-IT"/>
              <a:t> </a:t>
            </a:r>
            <a:r>
              <a:rPr lang="it-IT" err="1"/>
              <a:t>margin</a:t>
            </a:r>
            <a:r>
              <a:rPr lang="it-IT"/>
              <a:t>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CE9EC47-AF08-2963-ADEB-7D037C35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49" y="3618094"/>
            <a:ext cx="4610347" cy="283243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6239B37-352F-4081-CF98-243847390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3618094"/>
            <a:ext cx="4610347" cy="283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4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C360-931B-745B-DA78-68BFA575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31FA59-AF39-5A38-12A1-CEEE1AA7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6240"/>
            <a:ext cx="10890929" cy="1097280"/>
          </a:xfrm>
        </p:spPr>
        <p:txBody>
          <a:bodyPr/>
          <a:lstStyle/>
          <a:p>
            <a:r>
              <a:rPr lang="en-GB"/>
              <a:t>Task 5: Full System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98F949-7AE6-70E8-327A-FE94ED259C66}"/>
              </a:ext>
            </a:extLst>
          </p:cNvPr>
          <p:cNvSpPr txBox="1"/>
          <p:nvPr/>
        </p:nvSpPr>
        <p:spPr>
          <a:xfrm>
            <a:off x="640079" y="1228334"/>
            <a:ext cx="4875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Following the </a:t>
            </a:r>
            <a:r>
              <a:rPr lang="it-IT" err="1"/>
              <a:t>instructions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implemented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previous</a:t>
            </a:r>
            <a:r>
              <a:rPr lang="it-IT"/>
              <a:t> tasks </a:t>
            </a:r>
            <a:r>
              <a:rPr lang="it-IT" err="1"/>
              <a:t>results</a:t>
            </a:r>
            <a:r>
              <a:rPr lang="it-IT"/>
              <a:t> </a:t>
            </a:r>
            <a:r>
              <a:rPr lang="it-IT" err="1"/>
              <a:t>into</a:t>
            </a:r>
            <a:r>
              <a:rPr lang="it-IT"/>
              <a:t> the complete system and </a:t>
            </a:r>
            <a:r>
              <a:rPr lang="it-IT" err="1"/>
              <a:t>ran</a:t>
            </a:r>
            <a:r>
              <a:rPr lang="it-IT"/>
              <a:t> the </a:t>
            </a:r>
            <a:r>
              <a:rPr lang="it-IT" err="1"/>
              <a:t>simulation</a:t>
            </a:r>
            <a:r>
              <a:rPr lang="it-IT"/>
              <a:t>. </a:t>
            </a:r>
          </a:p>
          <a:p>
            <a:r>
              <a:rPr lang="it-IT" b="1"/>
              <a:t>SOC</a:t>
            </a:r>
            <a:r>
              <a:rPr lang="it-IT"/>
              <a:t> </a:t>
            </a:r>
            <a:r>
              <a:rPr lang="it-IT" err="1"/>
              <a:t>stayed</a:t>
            </a:r>
            <a:r>
              <a:rPr lang="it-IT"/>
              <a:t> </a:t>
            </a:r>
            <a:r>
              <a:rPr lang="it-IT" b="1"/>
              <a:t>positive</a:t>
            </a:r>
            <a:r>
              <a:rPr lang="it-IT"/>
              <a:t> </a:t>
            </a:r>
            <a:r>
              <a:rPr lang="it-IT" err="1"/>
              <a:t>throughout</a:t>
            </a:r>
            <a:r>
              <a:rPr lang="it-IT"/>
              <a:t> the </a:t>
            </a:r>
            <a:r>
              <a:rPr lang="it-IT" err="1"/>
              <a:t>entire</a:t>
            </a:r>
            <a:r>
              <a:rPr lang="it-IT"/>
              <a:t> 7-sol </a:t>
            </a:r>
            <a:r>
              <a:rPr lang="it-IT" err="1"/>
              <a:t>period</a:t>
            </a:r>
            <a:r>
              <a:rPr lang="it-IT"/>
              <a:t>.</a:t>
            </a:r>
          </a:p>
          <a:p>
            <a:r>
              <a:rPr lang="it-IT" b="1"/>
              <a:t>Voltage</a:t>
            </a:r>
            <a:r>
              <a:rPr lang="it-IT"/>
              <a:t> </a:t>
            </a:r>
            <a:r>
              <a:rPr lang="it-IT" err="1"/>
              <a:t>stayed</a:t>
            </a:r>
            <a:r>
              <a:rPr lang="it-IT"/>
              <a:t> </a:t>
            </a:r>
            <a:r>
              <a:rPr lang="it-IT" b="1" err="1"/>
              <a:t>consistent</a:t>
            </a:r>
            <a:r>
              <a:rPr lang="it-IT"/>
              <a:t> </a:t>
            </a:r>
            <a:r>
              <a:rPr lang="it-IT" err="1"/>
              <a:t>within</a:t>
            </a:r>
            <a:r>
              <a:rPr lang="it-IT"/>
              <a:t> the </a:t>
            </a:r>
            <a:r>
              <a:rPr lang="it-IT" b="1"/>
              <a:t>500-520V</a:t>
            </a:r>
            <a:r>
              <a:rPr lang="it-IT"/>
              <a:t> </a:t>
            </a:r>
            <a:r>
              <a:rPr lang="it-IT" err="1"/>
              <a:t>margin</a:t>
            </a:r>
            <a:r>
              <a:rPr lang="it-IT"/>
              <a:t>.</a:t>
            </a:r>
          </a:p>
          <a:p>
            <a:endParaRPr lang="en-GB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3CA0629-2985-106A-D6E8-53B68CCA6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794" y="3953918"/>
            <a:ext cx="4405476" cy="231333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56A69CB-80F2-0641-D16F-7CF76DEBD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39" y="719121"/>
            <a:ext cx="5031969" cy="230832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4F5B4D96-D3AA-5008-73BD-D43CBA3BB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37" y="3953918"/>
            <a:ext cx="4898342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78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FFBB01033F59428D2FA9D9205FBDBB" ma:contentTypeVersion="8" ma:contentTypeDescription="Create a new document." ma:contentTypeScope="" ma:versionID="457c35c9649a7a4a62f5db0f05280730">
  <xsd:schema xmlns:xsd="http://www.w3.org/2001/XMLSchema" xmlns:xs="http://www.w3.org/2001/XMLSchema" xmlns:p="http://schemas.microsoft.com/office/2006/metadata/properties" xmlns:ns3="246281da-9487-484b-b301-dbe9a9a18bbb" targetNamespace="http://schemas.microsoft.com/office/2006/metadata/properties" ma:root="true" ma:fieldsID="e4d0ff93fbeb8b65f4d8e5c19f34126d" ns3:_="">
    <xsd:import namespace="246281da-9487-484b-b301-dbe9a9a18bb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6281da-9487-484b-b301-dbe9a9a18bb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46281da-9487-484b-b301-dbe9a9a18bbb" xsi:nil="true"/>
  </documentManagement>
</p:properties>
</file>

<file path=customXml/itemProps1.xml><?xml version="1.0" encoding="utf-8"?>
<ds:datastoreItem xmlns:ds="http://schemas.openxmlformats.org/officeDocument/2006/customXml" ds:itemID="{67FFD9C1-E95D-416B-B4CD-F6E72951E6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E52C82-9164-4EC7-8919-A8800CB171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6281da-9487-484b-b301-dbe9a9a18b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C784D1-D5D4-4BCD-9847-E10F7D67E60A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246281da-9487-484b-b301-dbe9a9a18bbb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43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Microgrid </vt:lpstr>
      <vt:lpstr>Task 1: Ideal System</vt:lpstr>
      <vt:lpstr>Task 2: Maximum Power Transfer</vt:lpstr>
      <vt:lpstr>Task 3: Maximum Power Point Tracking (MPPT)</vt:lpstr>
      <vt:lpstr>Task 4: Battery Voltage Control</vt:lpstr>
      <vt:lpstr>Task 5: Full System</vt:lpstr>
      <vt:lpstr>Task 5: Full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Scotti  Leonardo</dc:creator>
  <cp:lastModifiedBy>Scotti  Leonardo</cp:lastModifiedBy>
  <cp:revision>332</cp:revision>
  <dcterms:created xsi:type="dcterms:W3CDTF">2026-04-18T11:49:30Z</dcterms:created>
  <dcterms:modified xsi:type="dcterms:W3CDTF">2026-04-18T13:21:19Z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0x010100DBFFBB01033F59428D2FA9D9205FBDBB</vt:lpwstr>
  </property>
</Properties>
</file>