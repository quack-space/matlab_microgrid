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17_FE850078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7" r:id="rId6"/>
    <p:sldId id="278" r:id="rId7"/>
    <p:sldId id="325" r:id="rId8"/>
    <p:sldId id="326" r:id="rId9"/>
    <p:sldId id="327" r:id="rId10"/>
    <p:sldId id="279" r:id="rId11"/>
    <p:sldId id="330" r:id="rId12"/>
    <p:sldId id="328" r:id="rId13"/>
    <p:sldId id="331" r:id="rId14"/>
    <p:sldId id="32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B59484-F29E-440D-96D4-399EA40CEF4D}">
          <p14:sldIdLst>
            <p14:sldId id="256"/>
            <p14:sldId id="277"/>
            <p14:sldId id="278"/>
            <p14:sldId id="325"/>
            <p14:sldId id="326"/>
            <p14:sldId id="327"/>
            <p14:sldId id="279"/>
            <p14:sldId id="330"/>
            <p14:sldId id="328"/>
            <p14:sldId id="331"/>
            <p14:sldId id="3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6D8D04-CF9C-89E8-AC32-89BC1A333750}" name="Grace Woolson" initials="GW" userId="S::gracew@mathworks.com::d66316ce-2f95-4434-a324-dd1cc6260d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C8D1"/>
    <a:srgbClr val="993200"/>
    <a:srgbClr val="176DAD"/>
    <a:srgbClr val="0D78C9"/>
    <a:srgbClr val="024C84"/>
    <a:srgbClr val="4D4E44"/>
    <a:srgbClr val="176338"/>
    <a:srgbClr val="0F5D3F"/>
    <a:srgbClr val="1B3049"/>
    <a:srgbClr val="5D3E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CA2404-EDC5-5EAD-4EDA-1515E0C0125C}" v="2" dt="2025-11-11T06:29:08.8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07"/>
    <p:restoredTop sz="94926"/>
  </p:normalViewPr>
  <p:slideViewPr>
    <p:cSldViewPr snapToGrid="0">
      <p:cViewPr varScale="1">
        <p:scale>
          <a:sx n="95" d="100"/>
          <a:sy n="95" d="100"/>
        </p:scale>
        <p:origin x="616" y="184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omments/modernComment_117_FE85007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12C445C-0286-4387-967B-55E02EDB413B}" authorId="{656D8D04-CF9C-89E8-AC32-89BC1A333750}" created="2023-01-13T21:09:05.71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70129272" sldId="279"/>
      <ac:spMk id="3" creationId="{3AFB63A8-EF62-49F7-A799-A2193E816C4B}"/>
      <ac:txMk cp="0" len="17">
        <ac:context len="134" hash="2455767408"/>
      </ac:txMk>
    </ac:txMkLst>
    <p188:pos x="2880731" y="250902"/>
    <p188:txBody>
      <a:bodyPr/>
      <a:lstStyle/>
      <a:p>
        <a:r>
          <a:rPr lang="en-US"/>
          <a:t>add hyperlink</a:t>
        </a:r>
      </a:p>
    </p188:txBody>
  </p188:cm>
  <p188:cm id="{6D1A564E-657E-40ED-A054-A4562C61CF97}" authorId="{656D8D04-CF9C-89E8-AC32-89BC1A333750}" created="2023-01-13T21:09:24.8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70129272" sldId="279"/>
      <ac:spMk id="3" creationId="{3AFB63A8-EF62-49F7-A799-A2193E816C4B}"/>
      <ac:txMk cp="89">
        <ac:context len="134" hash="2455767408"/>
      </ac:txMk>
    </ac:txMkLst>
    <p188:pos x="2518317" y="2230243"/>
    <p188:txBody>
      <a:bodyPr/>
      <a:lstStyle/>
      <a:p>
        <a:r>
          <a:rPr lang="en-US"/>
          <a:t>add hyperlink</a:t>
        </a:r>
      </a:p>
    </p188:txBody>
  </p188:cm>
  <p188:cm id="{EF0B0448-60F6-4E76-94B6-60E80BFA7B8A}" authorId="{656D8D04-CF9C-89E8-AC32-89BC1A333750}" created="2023-01-13T21:09:32.71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70129272" sldId="279"/>
      <ac:spMk id="3" creationId="{3AFB63A8-EF62-49F7-A799-A2193E816C4B}"/>
      <ac:txMk cp="140">
        <ac:context len="161" hash="301774148"/>
      </ac:txMk>
    </ac:txMkLst>
    <p188:pos x="2351048" y="3456878"/>
    <p188:txBody>
      <a:bodyPr/>
      <a:lstStyle/>
      <a:p>
        <a:r>
          <a:rPr lang="en-US"/>
          <a:t>add hyperlink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11B2B9-F335-4311-AAD1-B962EB263AA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69A1AF-1C85-46D9-8A13-31ED285166EA}">
      <dgm:prSet custT="1"/>
      <dgm:spPr/>
      <dgm:t>
        <a:bodyPr/>
        <a:lstStyle/>
        <a:p>
          <a:r>
            <a:rPr lang="en-US" sz="2600" dirty="0">
              <a:solidFill>
                <a:schemeClr val="bg1"/>
              </a:solidFill>
            </a:rPr>
            <a:t>[11:00 AM]: Welcome Presentation</a:t>
          </a:r>
        </a:p>
      </dgm:t>
    </dgm:pt>
    <dgm:pt modelId="{D304DA2A-A7CD-46E9-AA47-E39FFB268235}" type="parTrans" cxnId="{02E4EDE7-9596-43DD-906C-788957101669}">
      <dgm:prSet/>
      <dgm:spPr/>
      <dgm:t>
        <a:bodyPr/>
        <a:lstStyle/>
        <a:p>
          <a:endParaRPr lang="en-US" sz="2600"/>
        </a:p>
      </dgm:t>
    </dgm:pt>
    <dgm:pt modelId="{9DA92793-1B1E-42CB-A29E-B235B7FA22F6}" type="sibTrans" cxnId="{02E4EDE7-9596-43DD-906C-788957101669}">
      <dgm:prSet/>
      <dgm:spPr/>
      <dgm:t>
        <a:bodyPr/>
        <a:lstStyle/>
        <a:p>
          <a:endParaRPr lang="en-US" sz="2600"/>
        </a:p>
      </dgm:t>
    </dgm:pt>
    <dgm:pt modelId="{BD23ED3B-4BDE-47EE-ACF7-6A673722BFD4}">
      <dgm:prSet custT="1"/>
      <dgm:spPr/>
      <dgm:t>
        <a:bodyPr/>
        <a:lstStyle/>
        <a:p>
          <a:pPr rtl="0"/>
          <a:r>
            <a:rPr lang="en-US" sz="2600" dirty="0">
              <a:solidFill>
                <a:schemeClr val="bg1"/>
              </a:solidFill>
            </a:rPr>
            <a:t>[11:15 AM-3:00 PM]: </a:t>
          </a:r>
          <a:r>
            <a:rPr lang="en-US" sz="2600" dirty="0">
              <a:solidFill>
                <a:schemeClr val="bg1"/>
              </a:solidFill>
              <a:latin typeface="Arial"/>
            </a:rPr>
            <a:t>Teams</a:t>
          </a:r>
          <a:r>
            <a:rPr lang="en-US" sz="2600" dirty="0">
              <a:solidFill>
                <a:schemeClr val="bg1"/>
              </a:solidFill>
            </a:rPr>
            <a:t> develop solutions</a:t>
          </a:r>
          <a:r>
            <a:rPr lang="en-US" sz="2600" dirty="0">
              <a:solidFill>
                <a:schemeClr val="bg1"/>
              </a:solidFill>
              <a:latin typeface="Arial"/>
            </a:rPr>
            <a:t> and demos</a:t>
          </a:r>
          <a:endParaRPr lang="en-US" sz="2600" dirty="0">
            <a:solidFill>
              <a:schemeClr val="bg1"/>
            </a:solidFill>
          </a:endParaRPr>
        </a:p>
      </dgm:t>
    </dgm:pt>
    <dgm:pt modelId="{00F14278-8A29-4B18-8918-80230CFECC7B}" type="parTrans" cxnId="{922D6EED-C55D-488A-9588-0B855F4ADB83}">
      <dgm:prSet/>
      <dgm:spPr/>
      <dgm:t>
        <a:bodyPr/>
        <a:lstStyle/>
        <a:p>
          <a:endParaRPr lang="en-US" sz="2600"/>
        </a:p>
      </dgm:t>
    </dgm:pt>
    <dgm:pt modelId="{C777884F-CE1C-4B79-BCB1-5089F228F9E3}" type="sibTrans" cxnId="{922D6EED-C55D-488A-9588-0B855F4ADB83}">
      <dgm:prSet/>
      <dgm:spPr/>
      <dgm:t>
        <a:bodyPr/>
        <a:lstStyle/>
        <a:p>
          <a:endParaRPr lang="en-US" sz="2600"/>
        </a:p>
      </dgm:t>
    </dgm:pt>
    <dgm:pt modelId="{600F6DE3-AB97-486B-8B32-6D5B7B1D8765}">
      <dgm:prSet custT="1"/>
      <dgm:spPr/>
      <dgm:t>
        <a:bodyPr/>
        <a:lstStyle/>
        <a:p>
          <a:r>
            <a:rPr lang="en-US" sz="2600" dirty="0">
              <a:solidFill>
                <a:schemeClr val="bg1"/>
              </a:solidFill>
            </a:rPr>
            <a:t>[03:00 PM]: Participants submit projects + demos</a:t>
          </a:r>
        </a:p>
      </dgm:t>
    </dgm:pt>
    <dgm:pt modelId="{F74215A9-3EDB-4073-9547-0D85DAC6DED0}" type="parTrans" cxnId="{9BE951BB-2EC4-4E35-B5CB-924CEDF064B3}">
      <dgm:prSet/>
      <dgm:spPr/>
      <dgm:t>
        <a:bodyPr/>
        <a:lstStyle/>
        <a:p>
          <a:endParaRPr lang="en-US" sz="2600"/>
        </a:p>
      </dgm:t>
    </dgm:pt>
    <dgm:pt modelId="{B7731771-EA64-4E17-9F90-5BC103AE2506}" type="sibTrans" cxnId="{9BE951BB-2EC4-4E35-B5CB-924CEDF064B3}">
      <dgm:prSet/>
      <dgm:spPr/>
      <dgm:t>
        <a:bodyPr/>
        <a:lstStyle/>
        <a:p>
          <a:endParaRPr lang="en-US" sz="2600"/>
        </a:p>
      </dgm:t>
    </dgm:pt>
    <dgm:pt modelId="{699791EC-5808-4798-8BB8-E5BB278F2740}">
      <dgm:prSet custT="1"/>
      <dgm:spPr/>
      <dgm:t>
        <a:bodyPr/>
        <a:lstStyle/>
        <a:p>
          <a:r>
            <a:rPr lang="en-US" sz="2600" dirty="0">
              <a:solidFill>
                <a:schemeClr val="bg1"/>
              </a:solidFill>
            </a:rPr>
            <a:t>[04:00 PM] : winners announcement!</a:t>
          </a:r>
        </a:p>
      </dgm:t>
    </dgm:pt>
    <dgm:pt modelId="{F0C3C3EA-A138-47F6-8932-8D50B970B91E}" type="parTrans" cxnId="{82D9F3CB-4233-4996-84CA-8FE96EE838CB}">
      <dgm:prSet/>
      <dgm:spPr/>
      <dgm:t>
        <a:bodyPr/>
        <a:lstStyle/>
        <a:p>
          <a:endParaRPr lang="en-US" sz="2600"/>
        </a:p>
      </dgm:t>
    </dgm:pt>
    <dgm:pt modelId="{A8C9C22E-B9FC-42D5-8454-DCBB4FE26AE3}" type="sibTrans" cxnId="{82D9F3CB-4233-4996-84CA-8FE96EE838CB}">
      <dgm:prSet/>
      <dgm:spPr/>
      <dgm:t>
        <a:bodyPr/>
        <a:lstStyle/>
        <a:p>
          <a:endParaRPr lang="en-US" sz="2600"/>
        </a:p>
      </dgm:t>
    </dgm:pt>
    <dgm:pt modelId="{12D4B3F1-1F96-4377-BB30-488BB1DFDC09}" type="pres">
      <dgm:prSet presAssocID="{B411B2B9-F335-4311-AAD1-B962EB263AA7}" presName="vert0" presStyleCnt="0">
        <dgm:presLayoutVars>
          <dgm:dir/>
          <dgm:animOne val="branch"/>
          <dgm:animLvl val="lvl"/>
        </dgm:presLayoutVars>
      </dgm:prSet>
      <dgm:spPr/>
    </dgm:pt>
    <dgm:pt modelId="{D136A4B0-8099-4F42-BF92-6C1263698925}" type="pres">
      <dgm:prSet presAssocID="{D369A1AF-1C85-46D9-8A13-31ED285166EA}" presName="thickLine" presStyleLbl="alignNode1" presStyleIdx="0" presStyleCnt="4"/>
      <dgm:spPr/>
    </dgm:pt>
    <dgm:pt modelId="{2C2F0CDE-7A12-4CC0-A4C4-8EEDC5DE595E}" type="pres">
      <dgm:prSet presAssocID="{D369A1AF-1C85-46D9-8A13-31ED285166EA}" presName="horz1" presStyleCnt="0"/>
      <dgm:spPr/>
    </dgm:pt>
    <dgm:pt modelId="{E2880AB4-FD1F-4989-90F6-942541B1F5B1}" type="pres">
      <dgm:prSet presAssocID="{D369A1AF-1C85-46D9-8A13-31ED285166EA}" presName="tx1" presStyleLbl="revTx" presStyleIdx="0" presStyleCnt="4"/>
      <dgm:spPr/>
    </dgm:pt>
    <dgm:pt modelId="{8883C033-DE43-4609-AB5E-E11991CAD098}" type="pres">
      <dgm:prSet presAssocID="{D369A1AF-1C85-46D9-8A13-31ED285166EA}" presName="vert1" presStyleCnt="0"/>
      <dgm:spPr/>
    </dgm:pt>
    <dgm:pt modelId="{33828482-C322-41A6-88BF-98D2E40C4BAC}" type="pres">
      <dgm:prSet presAssocID="{BD23ED3B-4BDE-47EE-ACF7-6A673722BFD4}" presName="thickLine" presStyleLbl="alignNode1" presStyleIdx="1" presStyleCnt="4"/>
      <dgm:spPr/>
    </dgm:pt>
    <dgm:pt modelId="{92ED242C-BC3F-4757-8530-A3AEECE2E6BA}" type="pres">
      <dgm:prSet presAssocID="{BD23ED3B-4BDE-47EE-ACF7-6A673722BFD4}" presName="horz1" presStyleCnt="0"/>
      <dgm:spPr/>
    </dgm:pt>
    <dgm:pt modelId="{0959C4BB-ACE0-4069-B853-F38C3929E1CA}" type="pres">
      <dgm:prSet presAssocID="{BD23ED3B-4BDE-47EE-ACF7-6A673722BFD4}" presName="tx1" presStyleLbl="revTx" presStyleIdx="1" presStyleCnt="4"/>
      <dgm:spPr/>
    </dgm:pt>
    <dgm:pt modelId="{EE406E28-BA62-426F-8860-80293DEBE671}" type="pres">
      <dgm:prSet presAssocID="{BD23ED3B-4BDE-47EE-ACF7-6A673722BFD4}" presName="vert1" presStyleCnt="0"/>
      <dgm:spPr/>
    </dgm:pt>
    <dgm:pt modelId="{BDA6747E-8AB4-4074-81D5-B197333518AC}" type="pres">
      <dgm:prSet presAssocID="{600F6DE3-AB97-486B-8B32-6D5B7B1D8765}" presName="thickLine" presStyleLbl="alignNode1" presStyleIdx="2" presStyleCnt="4"/>
      <dgm:spPr/>
    </dgm:pt>
    <dgm:pt modelId="{8CFDFCB9-DF3E-4004-BBA9-870A2D30AD9D}" type="pres">
      <dgm:prSet presAssocID="{600F6DE3-AB97-486B-8B32-6D5B7B1D8765}" presName="horz1" presStyleCnt="0"/>
      <dgm:spPr/>
    </dgm:pt>
    <dgm:pt modelId="{DFE89162-F3B2-46FA-AA5E-C6D57F2C8F84}" type="pres">
      <dgm:prSet presAssocID="{600F6DE3-AB97-486B-8B32-6D5B7B1D8765}" presName="tx1" presStyleLbl="revTx" presStyleIdx="2" presStyleCnt="4"/>
      <dgm:spPr/>
    </dgm:pt>
    <dgm:pt modelId="{8C0D9CB3-392E-4EDB-BA22-2B8B52B19CEF}" type="pres">
      <dgm:prSet presAssocID="{600F6DE3-AB97-486B-8B32-6D5B7B1D8765}" presName="vert1" presStyleCnt="0"/>
      <dgm:spPr/>
    </dgm:pt>
    <dgm:pt modelId="{1ECD1DBA-DB84-47A9-BFAB-2931EE26C4FC}" type="pres">
      <dgm:prSet presAssocID="{699791EC-5808-4798-8BB8-E5BB278F2740}" presName="thickLine" presStyleLbl="alignNode1" presStyleIdx="3" presStyleCnt="4"/>
      <dgm:spPr/>
    </dgm:pt>
    <dgm:pt modelId="{E924E53F-945F-47E9-A935-4E03845823F0}" type="pres">
      <dgm:prSet presAssocID="{699791EC-5808-4798-8BB8-E5BB278F2740}" presName="horz1" presStyleCnt="0"/>
      <dgm:spPr/>
    </dgm:pt>
    <dgm:pt modelId="{ED73791B-1D28-4ABE-B299-3D8ACCAA1FB6}" type="pres">
      <dgm:prSet presAssocID="{699791EC-5808-4798-8BB8-E5BB278F2740}" presName="tx1" presStyleLbl="revTx" presStyleIdx="3" presStyleCnt="4"/>
      <dgm:spPr/>
    </dgm:pt>
    <dgm:pt modelId="{B95CB07A-D3D3-4F55-A198-7D16026215DD}" type="pres">
      <dgm:prSet presAssocID="{699791EC-5808-4798-8BB8-E5BB278F2740}" presName="vert1" presStyleCnt="0"/>
      <dgm:spPr/>
    </dgm:pt>
  </dgm:ptLst>
  <dgm:cxnLst>
    <dgm:cxn modelId="{C1E5A085-9E52-40F6-8F18-12AC935C8724}" type="presOf" srcId="{B411B2B9-F335-4311-AAD1-B962EB263AA7}" destId="{12D4B3F1-1F96-4377-BB30-488BB1DFDC09}" srcOrd="0" destOrd="0" presId="urn:microsoft.com/office/officeart/2008/layout/LinedList"/>
    <dgm:cxn modelId="{A02A599A-5C2D-49B2-A565-F4CCB35B08DC}" type="presOf" srcId="{600F6DE3-AB97-486B-8B32-6D5B7B1D8765}" destId="{DFE89162-F3B2-46FA-AA5E-C6D57F2C8F84}" srcOrd="0" destOrd="0" presId="urn:microsoft.com/office/officeart/2008/layout/LinedList"/>
    <dgm:cxn modelId="{BF3600A5-63F1-4F57-8266-246E309D7A10}" type="presOf" srcId="{D369A1AF-1C85-46D9-8A13-31ED285166EA}" destId="{E2880AB4-FD1F-4989-90F6-942541B1F5B1}" srcOrd="0" destOrd="0" presId="urn:microsoft.com/office/officeart/2008/layout/LinedList"/>
    <dgm:cxn modelId="{A8CBB8B6-BD44-42FE-80F6-222C5F64DA47}" type="presOf" srcId="{699791EC-5808-4798-8BB8-E5BB278F2740}" destId="{ED73791B-1D28-4ABE-B299-3D8ACCAA1FB6}" srcOrd="0" destOrd="0" presId="urn:microsoft.com/office/officeart/2008/layout/LinedList"/>
    <dgm:cxn modelId="{9BE951BB-2EC4-4E35-B5CB-924CEDF064B3}" srcId="{B411B2B9-F335-4311-AAD1-B962EB263AA7}" destId="{600F6DE3-AB97-486B-8B32-6D5B7B1D8765}" srcOrd="2" destOrd="0" parTransId="{F74215A9-3EDB-4073-9547-0D85DAC6DED0}" sibTransId="{B7731771-EA64-4E17-9F90-5BC103AE2506}"/>
    <dgm:cxn modelId="{82D9F3CB-4233-4996-84CA-8FE96EE838CB}" srcId="{B411B2B9-F335-4311-AAD1-B962EB263AA7}" destId="{699791EC-5808-4798-8BB8-E5BB278F2740}" srcOrd="3" destOrd="0" parTransId="{F0C3C3EA-A138-47F6-8932-8D50B970B91E}" sibTransId="{A8C9C22E-B9FC-42D5-8454-DCBB4FE26AE3}"/>
    <dgm:cxn modelId="{02E4EDE7-9596-43DD-906C-788957101669}" srcId="{B411B2B9-F335-4311-AAD1-B962EB263AA7}" destId="{D369A1AF-1C85-46D9-8A13-31ED285166EA}" srcOrd="0" destOrd="0" parTransId="{D304DA2A-A7CD-46E9-AA47-E39FFB268235}" sibTransId="{9DA92793-1B1E-42CB-A29E-B235B7FA22F6}"/>
    <dgm:cxn modelId="{D7625FEA-9A9B-432D-A6FD-7B9F8408EF31}" type="presOf" srcId="{BD23ED3B-4BDE-47EE-ACF7-6A673722BFD4}" destId="{0959C4BB-ACE0-4069-B853-F38C3929E1CA}" srcOrd="0" destOrd="0" presId="urn:microsoft.com/office/officeart/2008/layout/LinedList"/>
    <dgm:cxn modelId="{922D6EED-C55D-488A-9588-0B855F4ADB83}" srcId="{B411B2B9-F335-4311-AAD1-B962EB263AA7}" destId="{BD23ED3B-4BDE-47EE-ACF7-6A673722BFD4}" srcOrd="1" destOrd="0" parTransId="{00F14278-8A29-4B18-8918-80230CFECC7B}" sibTransId="{C777884F-CE1C-4B79-BCB1-5089F228F9E3}"/>
    <dgm:cxn modelId="{9421D215-4E0F-4BDA-9E5B-4558B062840C}" type="presParOf" srcId="{12D4B3F1-1F96-4377-BB30-488BB1DFDC09}" destId="{D136A4B0-8099-4F42-BF92-6C1263698925}" srcOrd="0" destOrd="0" presId="urn:microsoft.com/office/officeart/2008/layout/LinedList"/>
    <dgm:cxn modelId="{179F75CF-A331-46A7-852A-229529D85589}" type="presParOf" srcId="{12D4B3F1-1F96-4377-BB30-488BB1DFDC09}" destId="{2C2F0CDE-7A12-4CC0-A4C4-8EEDC5DE595E}" srcOrd="1" destOrd="0" presId="urn:microsoft.com/office/officeart/2008/layout/LinedList"/>
    <dgm:cxn modelId="{71A1B944-B077-4E0B-804C-8F356D4F9D70}" type="presParOf" srcId="{2C2F0CDE-7A12-4CC0-A4C4-8EEDC5DE595E}" destId="{E2880AB4-FD1F-4989-90F6-942541B1F5B1}" srcOrd="0" destOrd="0" presId="urn:microsoft.com/office/officeart/2008/layout/LinedList"/>
    <dgm:cxn modelId="{34195EC1-261D-423B-AC38-60AADCBBA2FC}" type="presParOf" srcId="{2C2F0CDE-7A12-4CC0-A4C4-8EEDC5DE595E}" destId="{8883C033-DE43-4609-AB5E-E11991CAD098}" srcOrd="1" destOrd="0" presId="urn:microsoft.com/office/officeart/2008/layout/LinedList"/>
    <dgm:cxn modelId="{75B646AC-5B65-4309-B5CD-0D740D4BB64F}" type="presParOf" srcId="{12D4B3F1-1F96-4377-BB30-488BB1DFDC09}" destId="{33828482-C322-41A6-88BF-98D2E40C4BAC}" srcOrd="2" destOrd="0" presId="urn:microsoft.com/office/officeart/2008/layout/LinedList"/>
    <dgm:cxn modelId="{BD2DC5FF-4931-46B2-81C9-4215D5C19667}" type="presParOf" srcId="{12D4B3F1-1F96-4377-BB30-488BB1DFDC09}" destId="{92ED242C-BC3F-4757-8530-A3AEECE2E6BA}" srcOrd="3" destOrd="0" presId="urn:microsoft.com/office/officeart/2008/layout/LinedList"/>
    <dgm:cxn modelId="{74B3DB7D-04B7-4E94-9608-F221832C7393}" type="presParOf" srcId="{92ED242C-BC3F-4757-8530-A3AEECE2E6BA}" destId="{0959C4BB-ACE0-4069-B853-F38C3929E1CA}" srcOrd="0" destOrd="0" presId="urn:microsoft.com/office/officeart/2008/layout/LinedList"/>
    <dgm:cxn modelId="{B37B506A-CD21-47D2-8F1E-FC25C8910D2C}" type="presParOf" srcId="{92ED242C-BC3F-4757-8530-A3AEECE2E6BA}" destId="{EE406E28-BA62-426F-8860-80293DEBE671}" srcOrd="1" destOrd="0" presId="urn:microsoft.com/office/officeart/2008/layout/LinedList"/>
    <dgm:cxn modelId="{B0AA8C86-1FAE-4E85-872E-5C45500BBBDA}" type="presParOf" srcId="{12D4B3F1-1F96-4377-BB30-488BB1DFDC09}" destId="{BDA6747E-8AB4-4074-81D5-B197333518AC}" srcOrd="4" destOrd="0" presId="urn:microsoft.com/office/officeart/2008/layout/LinedList"/>
    <dgm:cxn modelId="{E144383B-2A68-4E72-A67C-621D51C15C53}" type="presParOf" srcId="{12D4B3F1-1F96-4377-BB30-488BB1DFDC09}" destId="{8CFDFCB9-DF3E-4004-BBA9-870A2D30AD9D}" srcOrd="5" destOrd="0" presId="urn:microsoft.com/office/officeart/2008/layout/LinedList"/>
    <dgm:cxn modelId="{359269F7-E57A-4BE3-B3BA-3F28CC17FFA2}" type="presParOf" srcId="{8CFDFCB9-DF3E-4004-BBA9-870A2D30AD9D}" destId="{DFE89162-F3B2-46FA-AA5E-C6D57F2C8F84}" srcOrd="0" destOrd="0" presId="urn:microsoft.com/office/officeart/2008/layout/LinedList"/>
    <dgm:cxn modelId="{52BC7FBE-CF3D-433F-BEBA-8BDDF72F07EE}" type="presParOf" srcId="{8CFDFCB9-DF3E-4004-BBA9-870A2D30AD9D}" destId="{8C0D9CB3-392E-4EDB-BA22-2B8B52B19CEF}" srcOrd="1" destOrd="0" presId="urn:microsoft.com/office/officeart/2008/layout/LinedList"/>
    <dgm:cxn modelId="{CA0A9796-E7D6-4E3B-9686-5687326ED879}" type="presParOf" srcId="{12D4B3F1-1F96-4377-BB30-488BB1DFDC09}" destId="{1ECD1DBA-DB84-47A9-BFAB-2931EE26C4FC}" srcOrd="6" destOrd="0" presId="urn:microsoft.com/office/officeart/2008/layout/LinedList"/>
    <dgm:cxn modelId="{DBA80A13-E4C2-47E5-A898-F6EBC43CA667}" type="presParOf" srcId="{12D4B3F1-1F96-4377-BB30-488BB1DFDC09}" destId="{E924E53F-945F-47E9-A935-4E03845823F0}" srcOrd="7" destOrd="0" presId="urn:microsoft.com/office/officeart/2008/layout/LinedList"/>
    <dgm:cxn modelId="{0B54F431-AD53-48CB-9A1E-1E56FAA4CC0A}" type="presParOf" srcId="{E924E53F-945F-47E9-A935-4E03845823F0}" destId="{ED73791B-1D28-4ABE-B299-3D8ACCAA1FB6}" srcOrd="0" destOrd="0" presId="urn:microsoft.com/office/officeart/2008/layout/LinedList"/>
    <dgm:cxn modelId="{1B744F32-917A-4349-B7AD-6EA5ED477749}" type="presParOf" srcId="{E924E53F-945F-47E9-A935-4E03845823F0}" destId="{B95CB07A-D3D3-4F55-A198-7D16026215D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6A4B0-8099-4F42-BF92-6C1263698925}">
      <dsp:nvSpPr>
        <dsp:cNvPr id="0" name=""/>
        <dsp:cNvSpPr/>
      </dsp:nvSpPr>
      <dsp:spPr>
        <a:xfrm>
          <a:off x="0" y="0"/>
          <a:ext cx="614556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80AB4-FD1F-4989-90F6-942541B1F5B1}">
      <dsp:nvSpPr>
        <dsp:cNvPr id="0" name=""/>
        <dsp:cNvSpPr/>
      </dsp:nvSpPr>
      <dsp:spPr>
        <a:xfrm>
          <a:off x="0" y="0"/>
          <a:ext cx="6145561" cy="116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bg1"/>
              </a:solidFill>
            </a:rPr>
            <a:t>[11:00 AM]: Welcome Presentation</a:t>
          </a:r>
        </a:p>
      </dsp:txBody>
      <dsp:txXfrm>
        <a:off x="0" y="0"/>
        <a:ext cx="6145561" cy="1162049"/>
      </dsp:txXfrm>
    </dsp:sp>
    <dsp:sp modelId="{33828482-C322-41A6-88BF-98D2E40C4BAC}">
      <dsp:nvSpPr>
        <dsp:cNvPr id="0" name=""/>
        <dsp:cNvSpPr/>
      </dsp:nvSpPr>
      <dsp:spPr>
        <a:xfrm>
          <a:off x="0" y="1162049"/>
          <a:ext cx="614556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9C4BB-ACE0-4069-B853-F38C3929E1CA}">
      <dsp:nvSpPr>
        <dsp:cNvPr id="0" name=""/>
        <dsp:cNvSpPr/>
      </dsp:nvSpPr>
      <dsp:spPr>
        <a:xfrm>
          <a:off x="0" y="1162049"/>
          <a:ext cx="6145561" cy="116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bg1"/>
              </a:solidFill>
            </a:rPr>
            <a:t>[11:15 AM-3:00 PM]: </a:t>
          </a:r>
          <a:r>
            <a:rPr lang="en-US" sz="2600" kern="1200" dirty="0">
              <a:solidFill>
                <a:schemeClr val="bg1"/>
              </a:solidFill>
              <a:latin typeface="Arial"/>
            </a:rPr>
            <a:t>Teams</a:t>
          </a:r>
          <a:r>
            <a:rPr lang="en-US" sz="2600" kern="1200" dirty="0">
              <a:solidFill>
                <a:schemeClr val="bg1"/>
              </a:solidFill>
            </a:rPr>
            <a:t> develop solutions</a:t>
          </a:r>
          <a:r>
            <a:rPr lang="en-US" sz="2600" kern="1200" dirty="0">
              <a:solidFill>
                <a:schemeClr val="bg1"/>
              </a:solidFill>
              <a:latin typeface="Arial"/>
            </a:rPr>
            <a:t> and demos</a:t>
          </a:r>
          <a:endParaRPr lang="en-US" sz="2600" kern="1200" dirty="0">
            <a:solidFill>
              <a:schemeClr val="bg1"/>
            </a:solidFill>
          </a:endParaRPr>
        </a:p>
      </dsp:txBody>
      <dsp:txXfrm>
        <a:off x="0" y="1162049"/>
        <a:ext cx="6145561" cy="1162049"/>
      </dsp:txXfrm>
    </dsp:sp>
    <dsp:sp modelId="{BDA6747E-8AB4-4074-81D5-B197333518AC}">
      <dsp:nvSpPr>
        <dsp:cNvPr id="0" name=""/>
        <dsp:cNvSpPr/>
      </dsp:nvSpPr>
      <dsp:spPr>
        <a:xfrm>
          <a:off x="0" y="2324099"/>
          <a:ext cx="614556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89162-F3B2-46FA-AA5E-C6D57F2C8F84}">
      <dsp:nvSpPr>
        <dsp:cNvPr id="0" name=""/>
        <dsp:cNvSpPr/>
      </dsp:nvSpPr>
      <dsp:spPr>
        <a:xfrm>
          <a:off x="0" y="2324099"/>
          <a:ext cx="6145561" cy="116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bg1"/>
              </a:solidFill>
            </a:rPr>
            <a:t>[03:00 PM]: Participants submit projects + demos</a:t>
          </a:r>
        </a:p>
      </dsp:txBody>
      <dsp:txXfrm>
        <a:off x="0" y="2324099"/>
        <a:ext cx="6145561" cy="1162049"/>
      </dsp:txXfrm>
    </dsp:sp>
    <dsp:sp modelId="{1ECD1DBA-DB84-47A9-BFAB-2931EE26C4FC}">
      <dsp:nvSpPr>
        <dsp:cNvPr id="0" name=""/>
        <dsp:cNvSpPr/>
      </dsp:nvSpPr>
      <dsp:spPr>
        <a:xfrm>
          <a:off x="0" y="3486149"/>
          <a:ext cx="614556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3791B-1D28-4ABE-B299-3D8ACCAA1FB6}">
      <dsp:nvSpPr>
        <dsp:cNvPr id="0" name=""/>
        <dsp:cNvSpPr/>
      </dsp:nvSpPr>
      <dsp:spPr>
        <a:xfrm>
          <a:off x="0" y="3486149"/>
          <a:ext cx="6145561" cy="116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bg1"/>
              </a:solidFill>
            </a:rPr>
            <a:t>[04:00 PM] : winners announcement!</a:t>
          </a:r>
        </a:p>
      </dsp:txBody>
      <dsp:txXfrm>
        <a:off x="0" y="3486149"/>
        <a:ext cx="6145561" cy="11620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93C83-2184-4286-ABE1-941A40B40C8F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03001-E0F2-47E5-A338-816CC267AF60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3241F-7ED4-45AC-844C-15DB0D5F9CCD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3B8C3-A209-4A55-9261-22C2A02B315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27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33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 userDrawn="1"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2019 The MathWorks, Inc.</a:t>
            </a:r>
          </a:p>
        </p:txBody>
      </p:sp>
      <p:cxnSp>
        <p:nvCxnSpPr>
          <p:cNvPr id="26" name="GrayLine"/>
          <p:cNvCxnSpPr/>
          <p:nvPr userDrawn="1"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 userDrawn="1"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 userDrawn="1"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993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‹N›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9" r:id="rId4"/>
    <p:sldLayoutId id="2147483663" r:id="rId5"/>
    <p:sldLayoutId id="2147483651" r:id="rId6"/>
    <p:sldLayoutId id="2147483652" r:id="rId7"/>
    <p:sldLayoutId id="2147483664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thworks/microgrid-on-mars-activity" TargetMode="External"/><Relationship Id="rId2" Type="http://schemas.microsoft.com/office/2018/10/relationships/comments" Target="../comments/modernComment_117_FE85007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hyperlink" Target="https://matlab-hackaton-mission-mars.devpost.com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cielo, aria aperta, paesaggio, alba&#10;&#10;Descrizione generata automaticamente">
            <a:extLst>
              <a:ext uri="{FF2B5EF4-FFF2-40B4-BE49-F238E27FC236}">
                <a16:creationId xmlns:a16="http://schemas.microsoft.com/office/drawing/2014/main" id="{AAE4E4A6-B5F0-6698-C4B2-1F68F53376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" y="-1"/>
            <a:ext cx="12179032" cy="68400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4320" y="-1"/>
            <a:ext cx="10243279" cy="1828800"/>
          </a:xfrm>
        </p:spPr>
        <p:txBody>
          <a:bodyPr anchor="ctr"/>
          <a:lstStyle/>
          <a:p>
            <a:pPr algn="ctr"/>
            <a:r>
              <a:rPr lang="en-US" sz="4400" b="1" dirty="0">
                <a:solidFill>
                  <a:schemeClr val="accent2"/>
                </a:solidFill>
              </a:rPr>
              <a:t>Welcome</a:t>
            </a:r>
            <a:br>
              <a:rPr lang="en-US" sz="4400" b="1" dirty="0">
                <a:solidFill>
                  <a:schemeClr val="accent2"/>
                </a:solidFill>
              </a:rPr>
            </a:br>
            <a:r>
              <a:rPr lang="en-US" sz="4400" b="1" dirty="0">
                <a:solidFill>
                  <a:schemeClr val="accent2"/>
                </a:solidFill>
              </a:rPr>
              <a:t>to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193E2A1-18D9-D12D-23D3-BD322E326859}"/>
              </a:ext>
            </a:extLst>
          </p:cNvPr>
          <p:cNvSpPr txBox="1">
            <a:spLocks/>
          </p:cNvSpPr>
          <p:nvPr/>
        </p:nvSpPr>
        <p:spPr>
          <a:xfrm>
            <a:off x="914399" y="2853342"/>
            <a:ext cx="10363200" cy="18288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en-US" sz="66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MATLAB </a:t>
            </a:r>
            <a:r>
              <a:rPr lang="en-US" sz="6600" b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HackaTOn</a:t>
            </a:r>
            <a:endParaRPr lang="en-US" sz="66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66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Mission on Mars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CB82-FD6B-4BFF-87F3-F8B361695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550126"/>
            <a:ext cx="10769600" cy="897674"/>
          </a:xfrm>
        </p:spPr>
        <p:txBody>
          <a:bodyPr/>
          <a:lstStyle/>
          <a:p>
            <a:r>
              <a:rPr lang="en-US" sz="33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E2CFA-3C77-443F-8772-0AA2931F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4978402" cy="4648199"/>
          </a:xfrm>
        </p:spPr>
        <p:txBody>
          <a:bodyPr anchor="ctr"/>
          <a:lstStyle/>
          <a:p>
            <a:pPr marL="0" indent="0">
              <a:buClr>
                <a:schemeClr val="accent4">
                  <a:lumMod val="20000"/>
                  <a:lumOff val="80000"/>
                </a:schemeClr>
              </a:buClr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Clr>
                <a:schemeClr val="accent4">
                  <a:lumMod val="20000"/>
                  <a:lumOff val="80000"/>
                </a:schemeClr>
              </a:buClr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Problem Statement</a:t>
            </a:r>
          </a:p>
          <a:p>
            <a:pPr marL="457200" indent="-457200">
              <a:lnSpc>
                <a:spcPct val="150000"/>
              </a:lnSpc>
              <a:buClr>
                <a:schemeClr val="accent4">
                  <a:lumMod val="20000"/>
                  <a:lumOff val="80000"/>
                </a:schemeClr>
              </a:buClr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What to Expect Today</a:t>
            </a:r>
          </a:p>
          <a:p>
            <a:pPr marL="915035" lvl="1" indent="-457200">
              <a:lnSpc>
                <a:spcPct val="150000"/>
              </a:lnSpc>
              <a:buClr>
                <a:schemeClr val="accent4">
                  <a:lumMod val="20000"/>
                  <a:lumOff val="80000"/>
                </a:schemeClr>
              </a:buClr>
              <a:buAutoNum type="arabicPeriod"/>
            </a:pP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Agenda</a:t>
            </a:r>
            <a:endParaRPr lang="en-US" dirty="0">
              <a:solidFill>
                <a:schemeClr val="bg1"/>
              </a:solidFill>
            </a:endParaRPr>
          </a:p>
          <a:p>
            <a:pPr marL="915035" lvl="1" indent="-457200">
              <a:lnSpc>
                <a:spcPct val="150000"/>
              </a:lnSpc>
              <a:buClr>
                <a:schemeClr val="accent4">
                  <a:lumMod val="20000"/>
                  <a:lumOff val="80000"/>
                </a:schemeClr>
              </a:buClr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Submitting Projects</a:t>
            </a:r>
          </a:p>
          <a:p>
            <a:pPr marL="915035" lvl="1" indent="-457200">
              <a:lnSpc>
                <a:spcPct val="150000"/>
              </a:lnSpc>
              <a:buClr>
                <a:schemeClr val="accent4">
                  <a:lumMod val="20000"/>
                  <a:lumOff val="80000"/>
                </a:schemeClr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Winners announcement</a:t>
            </a:r>
            <a:endParaRPr lang="it-IT" b="1" dirty="0">
              <a:solidFill>
                <a:srgbClr val="E8E8E8"/>
              </a:solidFill>
              <a:latin typeface="Google Sans"/>
            </a:endParaRPr>
          </a:p>
          <a:p>
            <a:pPr marL="513988" indent="-457200">
              <a:lnSpc>
                <a:spcPct val="150000"/>
              </a:lnSpc>
              <a:buClr>
                <a:schemeClr val="accent4">
                  <a:lumMod val="20000"/>
                  <a:lumOff val="80000"/>
                </a:schemeClr>
              </a:buClr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Resources to participants</a:t>
            </a:r>
          </a:p>
          <a:p>
            <a:pPr marL="343535" indent="-343535">
              <a:buClr>
                <a:schemeClr val="accent4">
                  <a:lumMod val="20000"/>
                  <a:lumOff val="80000"/>
                </a:schemeClr>
              </a:buClr>
            </a:pPr>
            <a:endParaRPr lang="en-US" dirty="0"/>
          </a:p>
          <a:p>
            <a:pPr marL="0" indent="0">
              <a:buClr>
                <a:schemeClr val="accent4">
                  <a:lumMod val="20000"/>
                  <a:lumOff val="80000"/>
                </a:schemeClr>
              </a:buClr>
              <a:buNone/>
            </a:pPr>
            <a:endParaRPr lang="en-US" dirty="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63FFD910-10D6-B8D8-81CD-AC0AFF793A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20926"/>
          <a:stretch/>
        </p:blipFill>
        <p:spPr>
          <a:xfrm>
            <a:off x="5732967" y="1751438"/>
            <a:ext cx="5479745" cy="3899674"/>
          </a:xfrm>
        </p:spPr>
      </p:pic>
    </p:spTree>
    <p:extLst>
      <p:ext uri="{BB962C8B-B14F-4D97-AF65-F5344CB8AC3E}">
        <p14:creationId xmlns:p14="http://schemas.microsoft.com/office/powerpoint/2010/main" val="2467633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51CB-CD87-4DBA-BFB4-F112E2DAE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20" y="361013"/>
            <a:ext cx="10769600" cy="990600"/>
          </a:xfrm>
        </p:spPr>
        <p:txBody>
          <a:bodyPr/>
          <a:lstStyle/>
          <a:p>
            <a:r>
              <a:rPr lang="en-US" sz="33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Problem Statement : </a:t>
            </a:r>
            <a:r>
              <a:rPr lang="en-US" sz="33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Create a Microgrid on Mars!</a:t>
            </a:r>
            <a:endParaRPr lang="en-US" sz="33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81756-9E6B-434F-8C7C-7B8585AD9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9719" y="1410637"/>
            <a:ext cx="6975421" cy="46481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Microgrids are localized grids designed to provide electricity to a small geographic area, such as a university campus, a hospital complex, or a business center, and are necessary for establishing permanent stations for space exploration.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They can function independently by using local energy generation sources, which often include renewable resources like solar panels, wind turbines, and energy storage systems like batteries.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As our engineers stationed on Mars, it's your job to develop a new microgrid system that will provide power to your station!</a:t>
            </a:r>
            <a:endParaRPr lang="en-US" sz="2000" dirty="0">
              <a:solidFill>
                <a:schemeClr val="bg1"/>
              </a:solidFill>
            </a:endParaRPr>
          </a:p>
          <a:p>
            <a:pPr marL="343535" indent="-343535"/>
            <a:endParaRPr lang="en-US" dirty="0">
              <a:solidFill>
                <a:schemeClr val="bg1"/>
              </a:solidFill>
            </a:endParaRPr>
          </a:p>
          <a:p>
            <a:pPr marL="343535" indent="-343535"/>
            <a:endParaRPr lang="en-US" dirty="0">
              <a:solidFill>
                <a:schemeClr val="bg1"/>
              </a:solidFill>
            </a:endParaRPr>
          </a:p>
          <a:p>
            <a:pPr marL="343535" indent="-343535"/>
            <a:endParaRPr lang="en-US" dirty="0">
              <a:solidFill>
                <a:schemeClr val="bg1"/>
              </a:solidFill>
            </a:endParaRPr>
          </a:p>
          <a:p>
            <a:pPr marL="343535" indent="-343535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79537BD4-8AA3-46ED-E8CB-A22765FBE2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09877" y="1657350"/>
            <a:ext cx="4071620" cy="3543300"/>
          </a:xfrm>
        </p:spPr>
      </p:pic>
    </p:spTree>
    <p:extLst>
      <p:ext uri="{BB962C8B-B14F-4D97-AF65-F5344CB8AC3E}">
        <p14:creationId xmlns:p14="http://schemas.microsoft.com/office/powerpoint/2010/main" val="2527129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E1F3-87CC-9441-1223-B1C3AA7AB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700" y="399914"/>
            <a:ext cx="10769600" cy="990600"/>
          </a:xfrm>
        </p:spPr>
        <p:txBody>
          <a:bodyPr/>
          <a:lstStyle/>
          <a:p>
            <a:r>
              <a:rPr lang="en-US" sz="33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Agenda</a:t>
            </a:r>
            <a:endParaRPr lang="en-US" sz="33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8311BC3-359A-D4FC-56E2-1C02E863EB2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4179184"/>
              </p:ext>
            </p:extLst>
          </p:nvPr>
        </p:nvGraphicFramePr>
        <p:xfrm>
          <a:off x="609601" y="1600200"/>
          <a:ext cx="6145561" cy="4648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5" descr="Icon&#10;&#10;Description automatically generated">
            <a:extLst>
              <a:ext uri="{FF2B5EF4-FFF2-40B4-BE49-F238E27FC236}">
                <a16:creationId xmlns:a16="http://schemas.microsoft.com/office/drawing/2014/main" id="{AC2968F0-D8B0-3C51-16EA-5F26E21A98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7129917" y="1600200"/>
            <a:ext cx="4754137" cy="4062158"/>
          </a:xfrm>
        </p:spPr>
      </p:pic>
    </p:spTree>
    <p:extLst>
      <p:ext uri="{BB962C8B-B14F-4D97-AF65-F5344CB8AC3E}">
        <p14:creationId xmlns:p14="http://schemas.microsoft.com/office/powerpoint/2010/main" val="1626393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62FB-6DEB-BE3B-081B-B24918EA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Submission Guidelines</a:t>
            </a:r>
            <a:endParaRPr lang="en-US" sz="33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9CEB5-33E0-BE0D-3C35-FF55EF9DEC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10775795" cy="46481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3535" indent="-343535">
              <a:buClr>
                <a:schemeClr val="accent4">
                  <a:lumMod val="20000"/>
                  <a:lumOff val="80000"/>
                </a:schemeClr>
              </a:buClr>
            </a:pP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Projects must be submitted to </a:t>
            </a:r>
            <a:r>
              <a:rPr lang="en-US" dirty="0" err="1">
                <a:solidFill>
                  <a:schemeClr val="bg1"/>
                </a:solidFill>
                <a:latin typeface="Arial"/>
                <a:cs typeface="Arial"/>
              </a:rPr>
              <a:t>Devpost</a:t>
            </a:r>
            <a:endParaRPr lang="en-US" dirty="0">
              <a:solidFill>
                <a:schemeClr val="bg1"/>
              </a:solidFill>
              <a:latin typeface="Arial"/>
              <a:cs typeface="Arial"/>
            </a:endParaRPr>
          </a:p>
          <a:p>
            <a:pPr marL="744220" lvl="1" indent="-286385">
              <a:buClr>
                <a:schemeClr val="accent4">
                  <a:lumMod val="20000"/>
                  <a:lumOff val="80000"/>
                </a:schemeClr>
              </a:buClr>
              <a:buFont typeface="Arial" pitchFamily="2" charset="2"/>
              <a:buChar char="–"/>
            </a:pP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You will need to create a </a:t>
            </a:r>
            <a:r>
              <a:rPr lang="en-US" dirty="0" err="1">
                <a:solidFill>
                  <a:schemeClr val="bg1"/>
                </a:solidFill>
                <a:latin typeface="Arial"/>
                <a:cs typeface="Arial"/>
              </a:rPr>
              <a:t>Devpost</a:t>
            </a: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 project in order to submit</a:t>
            </a:r>
          </a:p>
          <a:p>
            <a:pPr marL="343535" indent="-343535">
              <a:buClr>
                <a:schemeClr val="accent4">
                  <a:lumMod val="20000"/>
                  <a:lumOff val="80000"/>
                </a:schemeClr>
              </a:buClr>
            </a:pPr>
            <a:endParaRPr lang="en-US" dirty="0">
              <a:solidFill>
                <a:schemeClr val="bg1"/>
              </a:solidFill>
              <a:latin typeface="Arial"/>
              <a:cs typeface="Arial"/>
            </a:endParaRPr>
          </a:p>
          <a:p>
            <a:pPr marL="343535" indent="-343535">
              <a:buClr>
                <a:schemeClr val="accent4">
                  <a:lumMod val="20000"/>
                  <a:lumOff val="80000"/>
                </a:schemeClr>
              </a:buClr>
            </a:pP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Submissions are due by </a:t>
            </a:r>
            <a:r>
              <a:rPr lang="en-US" dirty="0">
                <a:solidFill>
                  <a:schemeClr val="bg1"/>
                </a:solidFill>
                <a:highlight>
                  <a:srgbClr val="ABC8D1"/>
                </a:highlight>
                <a:latin typeface="Arial"/>
                <a:cs typeface="Arial"/>
              </a:rPr>
              <a:t>TODAY 3:00 P.M</a:t>
            </a:r>
          </a:p>
          <a:p>
            <a:pPr marL="343535" indent="-343535">
              <a:buClr>
                <a:schemeClr val="accent4">
                  <a:lumMod val="20000"/>
                  <a:lumOff val="80000"/>
                </a:schemeClr>
              </a:buClr>
            </a:pPr>
            <a:endParaRPr lang="en-US" dirty="0">
              <a:solidFill>
                <a:schemeClr val="bg1"/>
              </a:solidFill>
            </a:endParaRPr>
          </a:p>
          <a:p>
            <a:pPr marL="343535" indent="-343535">
              <a:buClr>
                <a:schemeClr val="accent4">
                  <a:lumMod val="20000"/>
                  <a:lumOff val="80000"/>
                </a:schemeClr>
              </a:buClr>
              <a:buFont typeface="Wingdings" pitchFamily="34" charset="0"/>
              <a:buChar char="§"/>
            </a:pP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Submissions must be on GitHub, MATLAB Drive, Google Drive, File Exchange, or some similar online repository that can be made public.</a:t>
            </a:r>
          </a:p>
          <a:p>
            <a:pPr marL="744220" lvl="1" indent="-286385">
              <a:buClr>
                <a:schemeClr val="accent4">
                  <a:lumMod val="20000"/>
                  <a:lumOff val="80000"/>
                </a:schemeClr>
              </a:buClr>
            </a:pP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It must contain your team's project and a brief (&lt;5 minutes) demo of this project</a:t>
            </a:r>
            <a:endParaRPr lang="en-US" dirty="0">
              <a:solidFill>
                <a:schemeClr val="bg1"/>
              </a:solidFill>
            </a:endParaRPr>
          </a:p>
          <a:p>
            <a:pPr marL="744220" lvl="1" indent="-286385">
              <a:buClr>
                <a:schemeClr val="accent4">
                  <a:lumMod val="20000"/>
                  <a:lumOff val="80000"/>
                </a:schemeClr>
              </a:buClr>
            </a:pP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The demo may be a video, slide deck, essay, or any presentation that you believe best allows you to showcase your project. </a:t>
            </a:r>
          </a:p>
          <a:p>
            <a:pPr marL="744220" lvl="1" indent="-286385">
              <a:buClr>
                <a:schemeClr val="accent4">
                  <a:lumMod val="20000"/>
                  <a:lumOff val="80000"/>
                </a:schemeClr>
              </a:buClr>
            </a:pPr>
            <a:endParaRPr lang="en-US" dirty="0">
              <a:solidFill>
                <a:schemeClr val="bg1"/>
              </a:solidFill>
              <a:latin typeface="Arial"/>
              <a:cs typeface="Arial"/>
            </a:endParaRPr>
          </a:p>
          <a:p>
            <a:pPr marL="343535" indent="-343535">
              <a:buClr>
                <a:schemeClr val="accent4">
                  <a:lumMod val="20000"/>
                  <a:lumOff val="80000"/>
                </a:schemeClr>
              </a:buClr>
              <a:buFont typeface="Wingdings" pitchFamily="34" charset="0"/>
              <a:buChar char="§"/>
            </a:pP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Only one submission per team is required</a:t>
            </a:r>
          </a:p>
        </p:txBody>
      </p:sp>
    </p:spTree>
    <p:extLst>
      <p:ext uri="{BB962C8B-B14F-4D97-AF65-F5344CB8AC3E}">
        <p14:creationId xmlns:p14="http://schemas.microsoft.com/office/powerpoint/2010/main" val="131769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57C6B-57E8-FB2E-F6B8-AA5B71F35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14" y="210923"/>
            <a:ext cx="10769600" cy="990600"/>
          </a:xfrm>
        </p:spPr>
        <p:txBody>
          <a:bodyPr/>
          <a:lstStyle/>
          <a:p>
            <a:r>
              <a:rPr lang="en-US" sz="33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Judging</a:t>
            </a:r>
            <a:endParaRPr lang="en-US" sz="33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243C4-4612-DD9A-388A-89AADD418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883" y="1450298"/>
            <a:ext cx="10980234" cy="683926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 rtl="0">
              <a:buClr>
                <a:schemeClr val="accent4">
                  <a:lumMod val="20000"/>
                  <a:lumOff val="8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Design Space Exploration (10 Points)</a:t>
            </a:r>
            <a:b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</a:br>
            <a:endParaRPr lang="it-IT" sz="1800" b="0" i="0" dirty="0">
              <a:solidFill>
                <a:schemeClr val="bg1"/>
              </a:solidFill>
              <a:effectLst/>
              <a:latin typeface="Circular"/>
            </a:endParaRPr>
          </a:p>
          <a:p>
            <a:pPr algn="l" rtl="0">
              <a:buClr>
                <a:schemeClr val="accent4">
                  <a:lumMod val="20000"/>
                  <a:lumOff val="8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Maximum Power Transfer (10 Points)</a:t>
            </a:r>
            <a:b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</a:br>
            <a:endParaRPr lang="it-IT" sz="1800" b="0" i="0" dirty="0">
              <a:solidFill>
                <a:schemeClr val="bg1"/>
              </a:solidFill>
              <a:effectLst/>
              <a:latin typeface="Circular"/>
            </a:endParaRPr>
          </a:p>
          <a:p>
            <a:pPr algn="l" rtl="0">
              <a:buClr>
                <a:schemeClr val="accent4">
                  <a:lumMod val="20000"/>
                  <a:lumOff val="8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1800" b="0" i="0" dirty="0" err="1">
                <a:solidFill>
                  <a:schemeClr val="bg1"/>
                </a:solidFill>
                <a:effectLst/>
                <a:latin typeface="Circular"/>
              </a:rPr>
              <a:t>Develop</a:t>
            </a: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 Maximum Power Point Tracking (MPPT) Control (10 Points)</a:t>
            </a:r>
            <a:b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</a:br>
            <a:endParaRPr lang="it-IT" sz="1800" b="0" i="0" dirty="0">
              <a:solidFill>
                <a:schemeClr val="bg1"/>
              </a:solidFill>
              <a:effectLst/>
              <a:latin typeface="Circular"/>
            </a:endParaRPr>
          </a:p>
          <a:p>
            <a:pPr algn="l" rtl="0">
              <a:buClr>
                <a:schemeClr val="accent4">
                  <a:lumMod val="20000"/>
                  <a:lumOff val="8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1800" b="0" i="0" dirty="0" err="1">
                <a:solidFill>
                  <a:schemeClr val="bg1"/>
                </a:solidFill>
                <a:effectLst/>
                <a:latin typeface="Circular"/>
              </a:rPr>
              <a:t>Battery</a:t>
            </a: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 Voltage Control (10 Points)</a:t>
            </a:r>
            <a:b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</a:br>
            <a:endParaRPr lang="it-IT" sz="1800" b="0" i="0" dirty="0">
              <a:solidFill>
                <a:schemeClr val="bg1"/>
              </a:solidFill>
              <a:effectLst/>
              <a:latin typeface="Circular"/>
            </a:endParaRPr>
          </a:p>
          <a:p>
            <a:pPr algn="l" rtl="0">
              <a:buClr>
                <a:schemeClr val="accent4">
                  <a:lumMod val="20000"/>
                  <a:lumOff val="8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Integrate and Test the Full System (10 Points)</a:t>
            </a:r>
            <a:b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</a:br>
            <a:endParaRPr lang="it-IT" sz="1800" b="0" i="0" dirty="0">
              <a:solidFill>
                <a:schemeClr val="bg1"/>
              </a:solidFill>
              <a:effectLst/>
              <a:latin typeface="Circular"/>
            </a:endParaRPr>
          </a:p>
          <a:p>
            <a:pPr algn="l" rtl="0">
              <a:buClr>
                <a:schemeClr val="accent4">
                  <a:lumMod val="20000"/>
                  <a:lumOff val="80000"/>
                </a:schemeClr>
              </a:buClr>
              <a:buFont typeface="Arial" panose="020B0604020202020204" pitchFamily="34" charset="0"/>
              <a:buChar char="•"/>
            </a:pPr>
            <a:endParaRPr lang="it-IT" sz="1800" b="0" i="0" dirty="0">
              <a:solidFill>
                <a:schemeClr val="bg1"/>
              </a:solidFill>
              <a:effectLst/>
              <a:latin typeface="Circular"/>
            </a:endParaRPr>
          </a:p>
          <a:p>
            <a:pPr algn="l" rtl="0">
              <a:buClr>
                <a:schemeClr val="accent4">
                  <a:lumMod val="20000"/>
                  <a:lumOff val="8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1800" b="0" i="0" dirty="0" err="1">
                <a:solidFill>
                  <a:schemeClr val="bg1"/>
                </a:solidFill>
                <a:effectLst/>
                <a:latin typeface="Circular"/>
              </a:rPr>
              <a:t>Creativity</a:t>
            </a: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: </a:t>
            </a:r>
            <a:r>
              <a:rPr lang="it-IT" sz="1800" b="0" i="0" dirty="0" err="1">
                <a:solidFill>
                  <a:schemeClr val="bg1"/>
                </a:solidFill>
                <a:effectLst/>
                <a:latin typeface="Circular"/>
              </a:rPr>
              <a:t>Interesting</a:t>
            </a: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 delivery </a:t>
            </a:r>
            <a:r>
              <a:rPr lang="it-IT" sz="1800" b="0" i="0" dirty="0" err="1">
                <a:solidFill>
                  <a:schemeClr val="bg1"/>
                </a:solidFill>
                <a:effectLst/>
                <a:latin typeface="Circular"/>
              </a:rPr>
              <a:t>methods</a:t>
            </a: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, innovative and creative </a:t>
            </a:r>
            <a:r>
              <a:rPr lang="it-IT" sz="1800" b="0" i="0" dirty="0" err="1">
                <a:solidFill>
                  <a:schemeClr val="bg1"/>
                </a:solidFill>
                <a:effectLst/>
                <a:latin typeface="Circular"/>
              </a:rPr>
              <a:t>solutions</a:t>
            </a: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 (15 Points)</a:t>
            </a:r>
            <a:b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</a:br>
            <a:endParaRPr lang="it-IT" sz="1800" b="0" i="0" dirty="0">
              <a:solidFill>
                <a:schemeClr val="bg1"/>
              </a:solidFill>
              <a:effectLst/>
              <a:latin typeface="Circular"/>
            </a:endParaRPr>
          </a:p>
          <a:p>
            <a:pPr algn="l" rtl="0">
              <a:buClr>
                <a:schemeClr val="accent4">
                  <a:lumMod val="20000"/>
                  <a:lumOff val="8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MATLAB/</a:t>
            </a:r>
            <a:r>
              <a:rPr lang="it-IT" sz="1800" b="0" i="0" dirty="0" err="1">
                <a:solidFill>
                  <a:schemeClr val="bg1"/>
                </a:solidFill>
                <a:effectLst/>
                <a:latin typeface="Circular"/>
              </a:rPr>
              <a:t>Simulink</a:t>
            </a: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 </a:t>
            </a:r>
            <a:r>
              <a:rPr lang="it-IT" sz="1800" b="0" i="0" dirty="0" err="1">
                <a:solidFill>
                  <a:schemeClr val="bg1"/>
                </a:solidFill>
                <a:effectLst/>
                <a:latin typeface="Circular"/>
              </a:rPr>
              <a:t>Mastery</a:t>
            </a: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: Knowledge and </a:t>
            </a:r>
            <a:r>
              <a:rPr lang="it-IT" sz="1800" b="0" i="0" dirty="0" err="1">
                <a:solidFill>
                  <a:schemeClr val="bg1"/>
                </a:solidFill>
                <a:effectLst/>
                <a:latin typeface="Circular"/>
              </a:rPr>
              <a:t>execution</a:t>
            </a: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 (25 Points)</a:t>
            </a:r>
            <a:b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</a:br>
            <a:endParaRPr lang="it-IT" sz="1800" b="0" i="0" dirty="0">
              <a:solidFill>
                <a:schemeClr val="bg1"/>
              </a:solidFill>
              <a:effectLst/>
              <a:latin typeface="Circular"/>
            </a:endParaRPr>
          </a:p>
          <a:p>
            <a:pPr algn="l" rtl="0">
              <a:buClr>
                <a:schemeClr val="accent4">
                  <a:lumMod val="20000"/>
                  <a:lumOff val="80000"/>
                </a:schemeClr>
              </a:buClr>
              <a:buFont typeface="Arial" panose="020B0604020202020204" pitchFamily="34" charset="0"/>
              <a:buChar char="•"/>
            </a:pPr>
            <a:r>
              <a:rPr lang="it-IT" sz="1800" b="0" i="0" dirty="0" err="1">
                <a:solidFill>
                  <a:schemeClr val="bg1"/>
                </a:solidFill>
                <a:effectLst/>
                <a:latin typeface="Circular"/>
              </a:rPr>
              <a:t>Clarity</a:t>
            </a: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: Message </a:t>
            </a:r>
            <a:r>
              <a:rPr lang="it-IT" sz="1800" b="0" i="0" dirty="0" err="1">
                <a:solidFill>
                  <a:schemeClr val="bg1"/>
                </a:solidFill>
                <a:effectLst/>
                <a:latin typeface="Circular"/>
              </a:rPr>
              <a:t>is</a:t>
            </a: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 clear and </a:t>
            </a:r>
            <a:r>
              <a:rPr lang="it-IT" sz="1800" b="0" i="0" dirty="0" err="1">
                <a:solidFill>
                  <a:schemeClr val="bg1"/>
                </a:solidFill>
                <a:effectLst/>
                <a:latin typeface="Circular"/>
              </a:rPr>
              <a:t>well-communicated</a:t>
            </a:r>
            <a:r>
              <a:rPr lang="it-IT" sz="1800" b="0" i="0" dirty="0">
                <a:solidFill>
                  <a:schemeClr val="bg1"/>
                </a:solidFill>
                <a:effectLst/>
                <a:latin typeface="Circular"/>
              </a:rPr>
              <a:t> (10 Points)</a:t>
            </a:r>
          </a:p>
          <a:p>
            <a:pPr marL="0" indent="0" algn="ctr">
              <a:buClr>
                <a:schemeClr val="accent4">
                  <a:lumMod val="20000"/>
                  <a:lumOff val="80000"/>
                </a:schemeClr>
              </a:buClr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E472AC4-3C09-3FED-8559-8383D491F3DD}"/>
              </a:ext>
            </a:extLst>
          </p:cNvPr>
          <p:cNvSpPr txBox="1"/>
          <p:nvPr/>
        </p:nvSpPr>
        <p:spPr>
          <a:xfrm>
            <a:off x="605883" y="1001468"/>
            <a:ext cx="3067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Circular"/>
              </a:rPr>
              <a:t>Solution Quality</a:t>
            </a:r>
            <a:endParaRPr lang="it-IT" sz="2000" b="1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9B866B2-CE05-0624-E6A8-1E7BE615528C}"/>
              </a:ext>
            </a:extLst>
          </p:cNvPr>
          <p:cNvSpPr txBox="1"/>
          <p:nvPr/>
        </p:nvSpPr>
        <p:spPr>
          <a:xfrm>
            <a:off x="605883" y="4280130"/>
            <a:ext cx="5162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Circular"/>
              </a:rPr>
              <a:t>Best Use of MATLAB &amp; </a:t>
            </a:r>
            <a:r>
              <a:rPr lang="it-IT" sz="2000" b="1" i="0" dirty="0" err="1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Circular"/>
              </a:rPr>
              <a:t>Presenting</a:t>
            </a:r>
            <a:r>
              <a:rPr lang="it-IT" sz="20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Circular"/>
              </a:rPr>
              <a:t> Quality </a:t>
            </a:r>
            <a:endParaRPr lang="it-IT" sz="2000" b="1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54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8C2D-07EB-4243-ABA7-8C8CE1DFE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644" y="322289"/>
            <a:ext cx="10769600" cy="990600"/>
          </a:xfrm>
        </p:spPr>
        <p:txBody>
          <a:bodyPr anchor="t">
            <a:normAutofit/>
          </a:bodyPr>
          <a:lstStyle/>
          <a:p>
            <a:r>
              <a:rPr lang="en-US" sz="33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Technical Resources for Participants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B63A8-EF62-49F7-A799-A2193E816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629637" cy="4648199"/>
          </a:xfrm>
        </p:spPr>
        <p:txBody>
          <a:bodyPr vert="horz" lIns="91440" tIns="45720" rIns="91440" bIns="45720" rtlCol="0">
            <a:normAutofit/>
          </a:bodyPr>
          <a:lstStyle/>
          <a:p>
            <a:pPr marL="343535" indent="-343535">
              <a:buClr>
                <a:schemeClr val="accent4">
                  <a:lumMod val="20000"/>
                  <a:lumOff val="80000"/>
                </a:schemeClr>
              </a:buClr>
            </a:pPr>
            <a:r>
              <a:rPr lang="en-US" sz="20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r>
              <a:rPr lang="en-US" sz="2000" dirty="0">
                <a:solidFill>
                  <a:schemeClr val="bg1"/>
                </a:solidFill>
              </a:rPr>
              <a:t> with:</a:t>
            </a:r>
          </a:p>
          <a:p>
            <a:pPr marL="744220" lvl="1" indent="-286385">
              <a:buClr>
                <a:schemeClr val="accent4">
                  <a:lumMod val="20000"/>
                  <a:lumOff val="80000"/>
                </a:schemeClr>
              </a:buClr>
            </a:pPr>
            <a:r>
              <a:rPr lang="en-US" dirty="0">
                <a:solidFill>
                  <a:schemeClr val="bg1"/>
                </a:solidFill>
              </a:rPr>
              <a:t>Starter Code</a:t>
            </a:r>
          </a:p>
          <a:p>
            <a:pPr marL="744220" lvl="1" indent="-286385">
              <a:buClr>
                <a:schemeClr val="accent4">
                  <a:lumMod val="20000"/>
                  <a:lumOff val="80000"/>
                </a:schemeClr>
              </a:buClr>
            </a:pPr>
            <a:r>
              <a:rPr lang="en-US" dirty="0">
                <a:solidFill>
                  <a:schemeClr val="bg1"/>
                </a:solidFill>
              </a:rPr>
              <a:t>Detailed Instructions</a:t>
            </a:r>
          </a:p>
          <a:p>
            <a:pPr marL="744220" lvl="1" indent="-286385">
              <a:buClr>
                <a:schemeClr val="accent4">
                  <a:lumMod val="20000"/>
                  <a:lumOff val="80000"/>
                </a:schemeClr>
              </a:buClr>
            </a:pPr>
            <a:r>
              <a:rPr lang="en-US" dirty="0">
                <a:solidFill>
                  <a:schemeClr val="bg1"/>
                </a:solidFill>
              </a:rPr>
              <a:t>Judging and scoring criteria</a:t>
            </a:r>
          </a:p>
          <a:p>
            <a:pPr marL="343535" indent="-343535">
              <a:buClr>
                <a:schemeClr val="accent4">
                  <a:lumMod val="20000"/>
                  <a:lumOff val="80000"/>
                </a:schemeClr>
              </a:buClr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Clr>
                <a:schemeClr val="accent4">
                  <a:lumMod val="20000"/>
                  <a:lumOff val="80000"/>
                </a:schemeClr>
              </a:buClr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343535" indent="-343535">
              <a:buClr>
                <a:schemeClr val="accent4">
                  <a:lumMod val="20000"/>
                  <a:lumOff val="80000"/>
                </a:schemeClr>
              </a:buClr>
            </a:pPr>
            <a:r>
              <a:rPr lang="en-US" sz="20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Devpost page </a:t>
            </a:r>
            <a:r>
              <a:rPr lang="en-US" sz="2000" dirty="0">
                <a:solidFill>
                  <a:schemeClr val="bg1"/>
                </a:solidFill>
              </a:rPr>
              <a:t>for submitting your projects  </a:t>
            </a:r>
          </a:p>
        </p:txBody>
      </p:sp>
      <p:pic>
        <p:nvPicPr>
          <p:cNvPr id="13" name="Picture 13" descr="Icon&#10;&#10;Description automatically generated">
            <a:extLst>
              <a:ext uri="{FF2B5EF4-FFF2-40B4-BE49-F238E27FC236}">
                <a16:creationId xmlns:a16="http://schemas.microsoft.com/office/drawing/2014/main" id="{1C85C273-5A2D-0B2E-9AF6-73CFD8163D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tretch>
            <a:fillRect/>
          </a:stretch>
        </p:blipFill>
        <p:spPr>
          <a:xfrm>
            <a:off x="717359" y="1600200"/>
            <a:ext cx="4966085" cy="4648199"/>
          </a:xfrm>
        </p:spPr>
      </p:pic>
    </p:spTree>
    <p:extLst>
      <p:ext uri="{BB962C8B-B14F-4D97-AF65-F5344CB8AC3E}">
        <p14:creationId xmlns:p14="http://schemas.microsoft.com/office/powerpoint/2010/main" val="427012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559F-DDB6-6E24-A330-7DD7633A2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Tips for getting started</a:t>
            </a:r>
            <a:endParaRPr lang="en-US" sz="33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96429-14EE-3772-48B7-EF0DAAC82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63639" y="1600200"/>
            <a:ext cx="9005977" cy="46481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Find your team first! Have someone start your </a:t>
            </a:r>
            <a:r>
              <a:rPr lang="en-US" sz="2800" dirty="0" err="1">
                <a:solidFill>
                  <a:schemeClr val="bg1"/>
                </a:solidFill>
                <a:latin typeface="Arial"/>
                <a:cs typeface="Arial"/>
              </a:rPr>
              <a:t>Devpost</a:t>
            </a: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 project.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endParaRPr lang="en-US" sz="36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Talk through the problem conceptually before anyone begins development – have a plan.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endParaRPr lang="en-US" sz="36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Delegate tasks once you have a plan so all team members are working on different pieces of the final project. 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038D90AD-6FEB-244E-50FC-0F7B6297F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7982" y="3075885"/>
            <a:ext cx="1165565" cy="116556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F687A11-ECD8-8335-465E-7F757F81AB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9296" y="4918757"/>
            <a:ext cx="1165565" cy="1165565"/>
          </a:xfrm>
          <a:prstGeom prst="rect">
            <a:avLst/>
          </a:prstGeom>
        </p:spPr>
      </p:pic>
      <p:pic>
        <p:nvPicPr>
          <p:cNvPr id="30" name="Graphic 1">
            <a:extLst>
              <a:ext uri="{FF2B5EF4-FFF2-40B4-BE49-F238E27FC236}">
                <a16:creationId xmlns:a16="http://schemas.microsoft.com/office/drawing/2014/main" id="{83DBB76E-D9CA-FDA2-905C-6A4534DA308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89911" y="1441175"/>
            <a:ext cx="872114" cy="843360"/>
          </a:xfrm>
          <a:prstGeom prst="rect">
            <a:avLst/>
          </a:prstGeom>
        </p:spPr>
      </p:pic>
      <p:pic>
        <p:nvPicPr>
          <p:cNvPr id="31" name="Graphic 1">
            <a:extLst>
              <a:ext uri="{FF2B5EF4-FFF2-40B4-BE49-F238E27FC236}">
                <a16:creationId xmlns:a16="http://schemas.microsoft.com/office/drawing/2014/main" id="{EA586760-A274-714B-C0F8-B1E7E347F95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393119" y="1843579"/>
            <a:ext cx="872114" cy="84336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2556325-DB8A-D241-F64B-BA242B515972}"/>
              </a:ext>
            </a:extLst>
          </p:cNvPr>
          <p:cNvSpPr/>
          <p:nvPr/>
        </p:nvSpPr>
        <p:spPr>
          <a:xfrm>
            <a:off x="836762" y="1260895"/>
            <a:ext cx="10532852" cy="1532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E877DB-1D6C-0DCA-6963-7E9D078E1AC8}"/>
              </a:ext>
            </a:extLst>
          </p:cNvPr>
          <p:cNvSpPr/>
          <p:nvPr/>
        </p:nvSpPr>
        <p:spPr>
          <a:xfrm>
            <a:off x="851138" y="2914291"/>
            <a:ext cx="10532852" cy="1532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CA363F-66DD-9C69-A22C-DDF91A916681}"/>
              </a:ext>
            </a:extLst>
          </p:cNvPr>
          <p:cNvSpPr/>
          <p:nvPr/>
        </p:nvSpPr>
        <p:spPr>
          <a:xfrm>
            <a:off x="836760" y="4567687"/>
            <a:ext cx="10532852" cy="183455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544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cielo, aria aperta, paesaggio, alba&#10;&#10;Descrizione generata automaticamente">
            <a:extLst>
              <a:ext uri="{FF2B5EF4-FFF2-40B4-BE49-F238E27FC236}">
                <a16:creationId xmlns:a16="http://schemas.microsoft.com/office/drawing/2014/main" id="{77E54ACB-713B-748D-B490-0313A46A67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" y="-1"/>
            <a:ext cx="12179032" cy="6840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F873A2-183C-972C-A486-4C51829D9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766" y="3053783"/>
            <a:ext cx="10363200" cy="1362075"/>
          </a:xfrm>
        </p:spPr>
        <p:txBody>
          <a:bodyPr/>
          <a:lstStyle/>
          <a:p>
            <a:r>
              <a:rPr lang="en-US" sz="6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Questions?</a:t>
            </a:r>
            <a:endParaRPr lang="en-US" sz="60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884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03410D-2EE3-9BDB-F70B-510581EBC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qr code on a blue background&#10;&#10;AI-generated content may be incorrect.">
            <a:extLst>
              <a:ext uri="{FF2B5EF4-FFF2-40B4-BE49-F238E27FC236}">
                <a16:creationId xmlns:a16="http://schemas.microsoft.com/office/drawing/2014/main" id="{147B1223-0215-FDE0-1EA7-A2C87B06F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866" y="793750"/>
            <a:ext cx="5273430" cy="52734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92032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57C6B-57E8-FB2E-F6B8-AA5B71F35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Survey!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243C4-4612-DD9A-388A-89AADD418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370163"/>
            <a:ext cx="6359596" cy="487823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en-US">
                <a:latin typeface="Arial"/>
                <a:cs typeface="Arial"/>
              </a:rPr>
              <a:t>Please fill out this survey while you wait!</a:t>
            </a:r>
            <a:endParaRPr lang="en-US"/>
          </a:p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r>
              <a:rPr lang="en-US">
                <a:latin typeface="Arial"/>
                <a:cs typeface="Arial"/>
              </a:rPr>
              <a:t>This will help us know what went well and what didn't, and how we can improve our events in the future</a:t>
            </a:r>
            <a:endParaRPr lang="en-US"/>
          </a:p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r>
              <a:rPr lang="en-US">
                <a:latin typeface="Arial"/>
                <a:cs typeface="Arial"/>
              </a:rPr>
              <a:t>Thank you!</a:t>
            </a:r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F267F5-A23F-238C-36B4-80C5D092C305}"/>
              </a:ext>
            </a:extLst>
          </p:cNvPr>
          <p:cNvSpPr/>
          <p:nvPr/>
        </p:nvSpPr>
        <p:spPr>
          <a:xfrm>
            <a:off x="7770779" y="2080098"/>
            <a:ext cx="3281462" cy="300584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Arial"/>
                <a:cs typeface="Arial"/>
              </a:rPr>
              <a:t>Replace this with a QR code to your survey. </a:t>
            </a:r>
            <a:endParaRPr lang="en-US">
              <a:latin typeface="Arial"/>
              <a:cs typeface="Arial"/>
            </a:endParaRPr>
          </a:p>
          <a:p>
            <a:pPr algn="ctr"/>
            <a:endParaRPr lang="en-US" b="1">
              <a:latin typeface="Arial"/>
              <a:cs typeface="Arial"/>
            </a:endParaRPr>
          </a:p>
          <a:p>
            <a:pPr algn="ctr"/>
            <a:r>
              <a:rPr lang="en-US" b="1">
                <a:latin typeface="Arial"/>
                <a:cs typeface="Arial"/>
              </a:rPr>
              <a:t>This can be made using any online service, such as </a:t>
            </a:r>
            <a:r>
              <a:rPr lang="en-US">
                <a:ea typeface="+mn-lt"/>
                <a:cs typeface="+mn-lt"/>
              </a:rPr>
              <a:t>https://www.qr-code-generator.com/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7006352"/>
      </p:ext>
    </p:extLst>
  </p:cSld>
  <p:clrMapOvr>
    <a:masterClrMapping/>
  </p:clrMapOvr>
</p:sld>
</file>

<file path=ppt/theme/theme1.xml><?xml version="1.0" encoding="utf-8"?>
<a:theme xmlns:a="http://schemas.openxmlformats.org/drawingml/2006/main" name="MW_Public_widescreen">
  <a:themeElements>
    <a:clrScheme name="TMW_PPT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3DD6725F-6445-465B-A542-7ED0D4FD4927}" vid="{F8F95017-F025-4876-A035-67E066E74B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466d9-fd0a-40ba-89cb-77eb15c2a30a" xsi:nil="true"/>
    <lcf76f155ced4ddcb4097134ff3c332f xmlns="b7b985a6-5614-4791-8283-b6a0b2c6681f">
      <Terms xmlns="http://schemas.microsoft.com/office/infopath/2007/PartnerControls"/>
    </lcf76f155ced4ddcb4097134ff3c332f>
    <_ip_UnifiedCompliancePolicyUIAction xmlns="http://schemas.microsoft.com/sharepoint/v3" xsi:nil="true"/>
    <Number xmlns="b7b985a6-5614-4791-8283-b6a0b2c6681f" xsi:nil="true"/>
    <_ip_UnifiedCompliancePolicyProperties xmlns="http://schemas.microsoft.com/sharepoint/v3" xsi:nil="true"/>
    <Length xmlns="b7b985a6-5614-4791-8283-b6a0b2c6681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ED2B3B9BAE8849942648134EEE717D" ma:contentTypeVersion="25" ma:contentTypeDescription="Create a new document." ma:contentTypeScope="" ma:versionID="88c8bfbb03fe96df05a979615f5cc19f">
  <xsd:schema xmlns:xsd="http://www.w3.org/2001/XMLSchema" xmlns:xs="http://www.w3.org/2001/XMLSchema" xmlns:p="http://schemas.microsoft.com/office/2006/metadata/properties" xmlns:ns1="http://schemas.microsoft.com/sharepoint/v3" xmlns:ns2="b7b985a6-5614-4791-8283-b6a0b2c6681f" xmlns:ns3="bbb466d9-fd0a-40ba-89cb-77eb15c2a30a" targetNamespace="http://schemas.microsoft.com/office/2006/metadata/properties" ma:root="true" ma:fieldsID="74d55843248754136a17156085ffb18b" ns1:_="" ns2:_="" ns3:_="">
    <xsd:import namespace="http://schemas.microsoft.com/sharepoint/v3"/>
    <xsd:import namespace="b7b985a6-5614-4791-8283-b6a0b2c6681f"/>
    <xsd:import namespace="bbb466d9-fd0a-40ba-89cb-77eb15c2a30a"/>
    <xsd:element name="properties">
      <xsd:complexType>
        <xsd:sequence>
          <xsd:element name="documentManagement">
            <xsd:complexType>
              <xsd:all>
                <xsd:element ref="ns2:Numbe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Length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b985a6-5614-4791-8283-b6a0b2c6681f" elementFormDefault="qualified">
    <xsd:import namespace="http://schemas.microsoft.com/office/2006/documentManagement/types"/>
    <xsd:import namespace="http://schemas.microsoft.com/office/infopath/2007/PartnerControls"/>
    <xsd:element name="Number" ma:index="8" nillable="true" ma:displayName="Number" ma:internalName="Number">
      <xsd:simpleType>
        <xsd:restriction base="dms:Number"/>
      </xsd:simpleType>
    </xsd:element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6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dc2fbcc8-9673-4dab-87c4-578ccfafc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ength" ma:index="31" nillable="true" ma:displayName="Length" ma:format="Dropdown" ma:internalName="Length">
      <xsd:simpleType>
        <xsd:restriction base="dms:Text">
          <xsd:maxLength value="255"/>
        </xsd:restriction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466d9-fd0a-40ba-89cb-77eb15c2a30a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6" nillable="true" ma:displayName="Taxonomy Catch All Column" ma:hidden="true" ma:list="{f023a373-7af4-4bfd-83ce-25f1d0f63536}" ma:internalName="TaxCatchAll" ma:showField="CatchAllData" ma:web="bbb466d9-fd0a-40ba-89cb-77eb15c2a3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61DF2E-245C-45DF-A9A5-EABECEA429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B851B7-D313-4E85-A1E0-5976CFE11EC3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acf9abf7-c116-4b83-8cff-9672c66dcb6b"/>
    <ds:schemaRef ds:uri="0ee7129e-4925-480d-949a-39847433c3b8"/>
    <ds:schemaRef ds:uri="http://www.w3.org/XML/1998/namespace"/>
    <ds:schemaRef ds:uri="http://purl.org/dc/dcmitype/"/>
    <ds:schemaRef ds:uri="bbb466d9-fd0a-40ba-89cb-77eb15c2a30a"/>
    <ds:schemaRef ds:uri="b7b985a6-5614-4791-8283-b6a0b2c6681f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817C1EB2-46C6-4206-9C7C-A795516D2E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7b985a6-5614-4791-8283-b6a0b2c6681f"/>
    <ds:schemaRef ds:uri="bbb466d9-fd0a-40ba-89cb-77eb15c2a3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2826</TotalTime>
  <Words>506</Words>
  <Application>Microsoft Macintosh PowerPoint</Application>
  <PresentationFormat>Widescreen</PresentationFormat>
  <Paragraphs>73</Paragraphs>
  <Slides>11</Slides>
  <Notes>2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8" baseType="lpstr">
      <vt:lpstr>Arial</vt:lpstr>
      <vt:lpstr>Calibri</vt:lpstr>
      <vt:lpstr>Circular</vt:lpstr>
      <vt:lpstr>Courier New</vt:lpstr>
      <vt:lpstr>Google Sans</vt:lpstr>
      <vt:lpstr>Wingdings</vt:lpstr>
      <vt:lpstr>MW_Public_widescreen</vt:lpstr>
      <vt:lpstr>Welcome to</vt:lpstr>
      <vt:lpstr>Agenda</vt:lpstr>
      <vt:lpstr>Problem Statement : Create a Microgrid on Mars!</vt:lpstr>
      <vt:lpstr>Agenda</vt:lpstr>
      <vt:lpstr>Submission Guidelines</vt:lpstr>
      <vt:lpstr>Judging</vt:lpstr>
      <vt:lpstr>Technical Resources for Participants</vt:lpstr>
      <vt:lpstr>Tips for getting started</vt:lpstr>
      <vt:lpstr>Questions?</vt:lpstr>
      <vt:lpstr>Presentazione standard di PowerPoint</vt:lpstr>
      <vt:lpstr>Survey!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MathWorks Minidrone Competition at NUMA 2019 Strategy and Timeline</dc:title>
  <dc:subject/>
  <dc:creator>Grace Woolson</dc:creator>
  <cp:keywords>Version 19.0</cp:keywords>
  <dc:description/>
  <cp:lastModifiedBy>sharon russo</cp:lastModifiedBy>
  <cp:revision>12</cp:revision>
  <dcterms:created xsi:type="dcterms:W3CDTF">2019-05-21T03:35:25Z</dcterms:created>
  <dcterms:modified xsi:type="dcterms:W3CDTF">2026-04-18T09:10:49Z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441712758</vt:i4>
  </property>
  <property fmtid="{D5CDD505-2E9C-101B-9397-08002B2CF9AE}" pid="3" name="_NewReviewCycle">
    <vt:lpwstr/>
  </property>
  <property fmtid="{D5CDD505-2E9C-101B-9397-08002B2CF9AE}" pid="4" name="_EmailSubject">
    <vt:lpwstr>Quick PPT question</vt:lpwstr>
  </property>
  <property fmtid="{D5CDD505-2E9C-101B-9397-08002B2CF9AE}" pid="5" name="_AuthorEmail">
    <vt:lpwstr>Julie.Cornell@mathworks.com</vt:lpwstr>
  </property>
  <property fmtid="{D5CDD505-2E9C-101B-9397-08002B2CF9AE}" pid="6" name="_AuthorEmailDisplayName">
    <vt:lpwstr>Julie Cornell</vt:lpwstr>
  </property>
  <property fmtid="{D5CDD505-2E9C-101B-9397-08002B2CF9AE}" pid="7" name="ContentTypeId">
    <vt:lpwstr>0x0101005CED2B3B9BAE8849942648134EEE717D</vt:lpwstr>
  </property>
  <property fmtid="{D5CDD505-2E9C-101B-9397-08002B2CF9AE}" pid="8" name="Order">
    <vt:r8>47491500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MediaServiceImageTags">
    <vt:lpwstr/>
  </property>
</Properties>
</file>